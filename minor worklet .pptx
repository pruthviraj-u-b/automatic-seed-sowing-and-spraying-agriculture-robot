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729"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3" autoAdjust="0"/>
    <p:restoredTop sz="90137" autoAdjust="0"/>
  </p:normalViewPr>
  <p:slideViewPr>
    <p:cSldViewPr snapToGrid="0">
      <p:cViewPr varScale="1">
        <p:scale>
          <a:sx n="80" d="100"/>
          <a:sy n="80" d="100"/>
        </p:scale>
        <p:origin x="782"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iyanka Budihal" userId="2dd2abd5e02a52ca" providerId="LiveId" clId="{5FE38E13-08F2-41E9-85CE-A4C658CF636C}"/>
    <pc:docChg chg="modSld">
      <pc:chgData name="Priyanka Budihal" userId="2dd2abd5e02a52ca" providerId="LiveId" clId="{5FE38E13-08F2-41E9-85CE-A4C658CF636C}" dt="2025-03-10T05:40:39.632" v="20" actId="123"/>
      <pc:docMkLst>
        <pc:docMk/>
      </pc:docMkLst>
      <pc:sldChg chg="modSp mod">
        <pc:chgData name="Priyanka Budihal" userId="2dd2abd5e02a52ca" providerId="LiveId" clId="{5FE38E13-08F2-41E9-85CE-A4C658CF636C}" dt="2025-03-10T05:40:39.632" v="20" actId="123"/>
        <pc:sldMkLst>
          <pc:docMk/>
          <pc:sldMk cId="4289930294" sldId="729"/>
        </pc:sldMkLst>
        <pc:spChg chg="mod">
          <ac:chgData name="Priyanka Budihal" userId="2dd2abd5e02a52ca" providerId="LiveId" clId="{5FE38E13-08F2-41E9-85CE-A4C658CF636C}" dt="2025-03-10T05:40:39.632" v="20" actId="123"/>
          <ac:spMkLst>
            <pc:docMk/>
            <pc:sldMk cId="4289930294" sldId="729"/>
            <ac:spMk id="2" creationId="{94604674-74FA-6307-56E7-2B8478ADF7C8}"/>
          </ac:spMkLst>
        </pc:spChg>
        <pc:spChg chg="mod">
          <ac:chgData name="Priyanka Budihal" userId="2dd2abd5e02a52ca" providerId="LiveId" clId="{5FE38E13-08F2-41E9-85CE-A4C658CF636C}" dt="2025-03-10T05:40:13.300" v="16" actId="123"/>
          <ac:spMkLst>
            <pc:docMk/>
            <pc:sldMk cId="4289930294" sldId="729"/>
            <ac:spMk id="10" creationId="{1C116B9C-F1E5-E24D-9D2F-D0E8A384333F}"/>
          </ac:spMkLst>
        </pc:spChg>
        <pc:spChg chg="mod">
          <ac:chgData name="Priyanka Budihal" userId="2dd2abd5e02a52ca" providerId="LiveId" clId="{5FE38E13-08F2-41E9-85CE-A4C658CF636C}" dt="2025-03-10T05:40:24.871" v="18" actId="123"/>
          <ac:spMkLst>
            <pc:docMk/>
            <pc:sldMk cId="4289930294" sldId="729"/>
            <ac:spMk id="17" creationId="{55D699BF-E6D1-668F-C714-0F0C4F5A99FD}"/>
          </ac:spMkLst>
        </pc:spChg>
        <pc:spChg chg="mod">
          <ac:chgData name="Priyanka Budihal" userId="2dd2abd5e02a52ca" providerId="LiveId" clId="{5FE38E13-08F2-41E9-85CE-A4C658CF636C}" dt="2025-03-10T05:40:19.447" v="17" actId="123"/>
          <ac:spMkLst>
            <pc:docMk/>
            <pc:sldMk cId="4289930294" sldId="729"/>
            <ac:spMk id="21" creationId="{6AE7FD91-6FCB-9FCB-667D-0C9363FD36A9}"/>
          </ac:spMkLst>
        </pc:spChg>
        <pc:spChg chg="mod">
          <ac:chgData name="Priyanka Budihal" userId="2dd2abd5e02a52ca" providerId="LiveId" clId="{5FE38E13-08F2-41E9-85CE-A4C658CF636C}" dt="2025-03-10T05:40:06.985" v="15" actId="123"/>
          <ac:spMkLst>
            <pc:docMk/>
            <pc:sldMk cId="4289930294" sldId="729"/>
            <ac:spMk id="43" creationId="{00000000-0000-0000-0000-000000000000}"/>
          </ac:spMkLst>
        </pc:spChg>
        <pc:spChg chg="mod">
          <ac:chgData name="Priyanka Budihal" userId="2dd2abd5e02a52ca" providerId="LiveId" clId="{5FE38E13-08F2-41E9-85CE-A4C658CF636C}" dt="2025-03-10T05:40:00.701" v="14" actId="123"/>
          <ac:spMkLst>
            <pc:docMk/>
            <pc:sldMk cId="4289930294" sldId="729"/>
            <ac:spMk id="44" creationId="{00000000-0000-0000-0000-000000000000}"/>
          </ac:spMkLst>
        </pc:spChg>
        <pc:spChg chg="mod">
          <ac:chgData name="Priyanka Budihal" userId="2dd2abd5e02a52ca" providerId="LiveId" clId="{5FE38E13-08F2-41E9-85CE-A4C658CF636C}" dt="2025-03-10T05:39:51.461" v="13" actId="123"/>
          <ac:spMkLst>
            <pc:docMk/>
            <pc:sldMk cId="4289930294" sldId="729"/>
            <ac:spMk id="45" creationId="{00000000-0000-0000-0000-000000000000}"/>
          </ac:spMkLst>
        </pc:spChg>
        <pc:spChg chg="mod">
          <ac:chgData name="Priyanka Budihal" userId="2dd2abd5e02a52ca" providerId="LiveId" clId="{5FE38E13-08F2-41E9-85CE-A4C658CF636C}" dt="2025-03-10T05:40:31.254" v="19" actId="123"/>
          <ac:spMkLst>
            <pc:docMk/>
            <pc:sldMk cId="4289930294" sldId="729"/>
            <ac:spMk id="54" creationId="{00000000-0000-0000-0000-000000000000}"/>
          </ac:spMkLst>
        </pc:spChg>
        <pc:spChg chg="mod">
          <ac:chgData name="Priyanka Budihal" userId="2dd2abd5e02a52ca" providerId="LiveId" clId="{5FE38E13-08F2-41E9-85CE-A4C658CF636C}" dt="2025-03-10T05:18:42.278" v="12" actId="2"/>
          <ac:spMkLst>
            <pc:docMk/>
            <pc:sldMk cId="4289930294" sldId="729"/>
            <ac:spMk id="56" creationId="{C8C8F426-AA0A-47B2-97AE-E40B3392162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3346B9-B1D8-4CA3-9B2E-CB5F86EA991B}" type="datetimeFigureOut">
              <a:rPr lang="en-IN" smtClean="0"/>
              <a:pPr/>
              <a:t>10-03-2025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EA1AF2-4693-4FBE-A977-D1137A7E0DF0}" type="slidenum">
              <a:rPr lang="en-IN" smtClean="0"/>
              <a:pPr/>
              <a:t>‹#›</a:t>
            </a:fld>
            <a:endParaRPr lang="en-IN" dirty="0"/>
          </a:p>
        </p:txBody>
      </p:sp>
    </p:spTree>
    <p:extLst>
      <p:ext uri="{BB962C8B-B14F-4D97-AF65-F5344CB8AC3E}">
        <p14:creationId xmlns:p14="http://schemas.microsoft.com/office/powerpoint/2010/main" val="1542314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E10FCB-200C-2B43-9885-E5F441D2F037}" type="slidenum">
              <a:rPr lang="en-US" smtClean="0"/>
              <a:pPr/>
              <a:t>1</a:t>
            </a:fld>
            <a:endParaRPr lang="en-US" dirty="0"/>
          </a:p>
        </p:txBody>
      </p:sp>
    </p:spTree>
    <p:extLst>
      <p:ext uri="{BB962C8B-B14F-4D97-AF65-F5344CB8AC3E}">
        <p14:creationId xmlns:p14="http://schemas.microsoft.com/office/powerpoint/2010/main" val="758694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0AFD2D-492A-76FF-F503-471561E557E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48A0D0B-37A3-2686-26D5-74ADA2190EA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415ABCA-A10E-FA9F-E6E4-D02F95538636}"/>
              </a:ext>
            </a:extLst>
          </p:cNvPr>
          <p:cNvSpPr>
            <a:spLocks noGrp="1"/>
          </p:cNvSpPr>
          <p:nvPr>
            <p:ph type="dt" sz="half" idx="10"/>
          </p:nvPr>
        </p:nvSpPr>
        <p:spPr/>
        <p:txBody>
          <a:bodyPr/>
          <a:lstStyle/>
          <a:p>
            <a:fld id="{E0DC05A6-F8D6-A346-9C2A-4A7D44F39E91}" type="datetimeFigureOut">
              <a:rPr lang="en-US" smtClean="0"/>
              <a:pPr/>
              <a:t>3/10/2025</a:t>
            </a:fld>
            <a:endParaRPr lang="en-US" dirty="0"/>
          </a:p>
        </p:txBody>
      </p:sp>
      <p:sp>
        <p:nvSpPr>
          <p:cNvPr id="5" name="Footer Placeholder 4">
            <a:extLst>
              <a:ext uri="{FF2B5EF4-FFF2-40B4-BE49-F238E27FC236}">
                <a16:creationId xmlns:a16="http://schemas.microsoft.com/office/drawing/2014/main" id="{D97168B9-FFE6-5E12-8B61-84554066C62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845436A-FBA1-A000-1D73-03AB912E9A1C}"/>
              </a:ext>
            </a:extLst>
          </p:cNvPr>
          <p:cNvSpPr>
            <a:spLocks noGrp="1"/>
          </p:cNvSpPr>
          <p:nvPr>
            <p:ph type="sldNum" sz="quarter" idx="12"/>
          </p:nvPr>
        </p:nvSpPr>
        <p:spPr/>
        <p:txBody>
          <a:bodyPr/>
          <a:lstStyle/>
          <a:p>
            <a:fld id="{2059A38A-0B35-3C43-B2F5-6FF920A61CCB}" type="slidenum">
              <a:rPr lang="en-US" smtClean="0"/>
              <a:pPr/>
              <a:t>‹#›</a:t>
            </a:fld>
            <a:endParaRPr lang="en-US" dirty="0"/>
          </a:p>
        </p:txBody>
      </p:sp>
    </p:spTree>
    <p:extLst>
      <p:ext uri="{BB962C8B-B14F-4D97-AF65-F5344CB8AC3E}">
        <p14:creationId xmlns:p14="http://schemas.microsoft.com/office/powerpoint/2010/main" val="359906776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0FE4F3A-4D0E-9F76-6890-E6D8252ED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34C6523-C644-67A7-7060-ACC0EFC6B14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36A6099-ECA2-8562-4C1C-1F6AF58442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DC05A6-F8D6-A346-9C2A-4A7D44F39E91}" type="datetimeFigureOut">
              <a:rPr lang="en-US" smtClean="0"/>
              <a:pPr/>
              <a:t>3/10/2025</a:t>
            </a:fld>
            <a:endParaRPr lang="en-US" dirty="0"/>
          </a:p>
        </p:txBody>
      </p:sp>
      <p:sp>
        <p:nvSpPr>
          <p:cNvPr id="5" name="Footer Placeholder 4">
            <a:extLst>
              <a:ext uri="{FF2B5EF4-FFF2-40B4-BE49-F238E27FC236}">
                <a16:creationId xmlns:a16="http://schemas.microsoft.com/office/drawing/2014/main" id="{FCEA6DAC-A6E3-FCAD-0329-AAAC477B3D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F2AA460-0BE9-F550-4AFB-A615C071D6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59A38A-0B35-3C43-B2F5-6FF920A61CCB}" type="slidenum">
              <a:rPr lang="en-US" smtClean="0"/>
              <a:pPr/>
              <a:t>‹#›</a:t>
            </a:fld>
            <a:endParaRPr lang="en-US" dirty="0"/>
          </a:p>
        </p:txBody>
      </p:sp>
    </p:spTree>
    <p:extLst>
      <p:ext uri="{BB962C8B-B14F-4D97-AF65-F5344CB8AC3E}">
        <p14:creationId xmlns:p14="http://schemas.microsoft.com/office/powerpoint/2010/main" val="1998110842"/>
      </p:ext>
    </p:extLst>
  </p:cSld>
  <p:clrMap bg1="lt1" tx1="dk1" bg2="lt2" tx2="dk2" accent1="accent1" accent2="accent2" accent3="accent3" accent4="accent4" accent5="accent5" accent6="accent6" hlink="hlink" folHlink="folHlink"/>
  <p:sldLayoutIdLst>
    <p:sldLayoutId id="2147483650" r:id="rId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p:cNvCxnSpPr/>
          <p:nvPr/>
        </p:nvCxnSpPr>
        <p:spPr>
          <a:xfrm>
            <a:off x="0" y="947312"/>
            <a:ext cx="12128848" cy="0"/>
          </a:xfrm>
          <a:prstGeom prst="line">
            <a:avLst/>
          </a:prstGeom>
        </p:spPr>
        <p:style>
          <a:lnRef idx="1">
            <a:schemeClr val="accent2"/>
          </a:lnRef>
          <a:fillRef idx="0">
            <a:schemeClr val="accent2"/>
          </a:fillRef>
          <a:effectRef idx="0">
            <a:schemeClr val="accent2"/>
          </a:effectRef>
          <a:fontRef idx="minor">
            <a:schemeClr val="tx1"/>
          </a:fontRef>
        </p:style>
      </p:cxnSp>
      <p:sp>
        <p:nvSpPr>
          <p:cNvPr id="4" name="AutoShape 2" descr="Jawaharlal Nehru Medical College"/>
          <p:cNvSpPr>
            <a:spLocks noChangeAspect="1" noChangeArrowheads="1"/>
          </p:cNvSpPr>
          <p:nvPr/>
        </p:nvSpPr>
        <p:spPr bwMode="auto">
          <a:xfrm>
            <a:off x="155575" y="7419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sz="1100" dirty="0">
              <a:latin typeface="Times New Roman" panose="02020603050405020304" pitchFamily="18" charset="0"/>
              <a:cs typeface="Times New Roman" panose="02020603050405020304" pitchFamily="18" charset="0"/>
            </a:endParaRPr>
          </a:p>
        </p:txBody>
      </p:sp>
      <p:sp>
        <p:nvSpPr>
          <p:cNvPr id="5" name="AutoShape 5" descr="JNMC BELAGAVI - 2022 Admission Process, Ranking, Reviews, Affiliations"/>
          <p:cNvSpPr>
            <a:spLocks noChangeAspect="1" noChangeArrowheads="1"/>
          </p:cNvSpPr>
          <p:nvPr/>
        </p:nvSpPr>
        <p:spPr bwMode="auto">
          <a:xfrm>
            <a:off x="307975" y="22659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sz="11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012AB5E-1560-712F-8183-68EF2537F3A0}"/>
              </a:ext>
            </a:extLst>
          </p:cNvPr>
          <p:cNvSpPr txBox="1"/>
          <p:nvPr/>
        </p:nvSpPr>
        <p:spPr>
          <a:xfrm>
            <a:off x="56182" y="114779"/>
            <a:ext cx="8754918" cy="338554"/>
          </a:xfrm>
          <a:prstGeom prst="rect">
            <a:avLst/>
          </a:prstGeom>
          <a:noFill/>
        </p:spPr>
        <p:txBody>
          <a:bodyPr wrap="square">
            <a:spAutoFit/>
          </a:bodyPr>
          <a:lstStyle/>
          <a:p>
            <a:r>
              <a:rPr lang="en-US" altLang="ko-KR" sz="1600" b="1" dirty="0">
                <a:solidFill>
                  <a:srgbClr val="0070C0"/>
                </a:solidFill>
                <a:latin typeface="Times New Roman" panose="02020603050405020304" pitchFamily="18" charset="0"/>
                <a:cs typeface="Times New Roman" panose="02020603050405020304" pitchFamily="18" charset="0"/>
              </a:rPr>
              <a:t>Automatic Seed Sowing and Spraying Agriculture Robot</a:t>
            </a:r>
            <a:endParaRPr lang="ko-KR" altLang="en-US" sz="1600" b="1" dirty="0">
              <a:solidFill>
                <a:srgbClr val="0070C0"/>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94604674-74FA-6307-56E7-2B8478ADF7C8}"/>
              </a:ext>
            </a:extLst>
          </p:cNvPr>
          <p:cNvSpPr txBox="1"/>
          <p:nvPr/>
        </p:nvSpPr>
        <p:spPr>
          <a:xfrm>
            <a:off x="71765" y="2871355"/>
            <a:ext cx="6813887" cy="492443"/>
          </a:xfrm>
          <a:prstGeom prst="rect">
            <a:avLst/>
          </a:prstGeom>
          <a:noFill/>
        </p:spPr>
        <p:txBody>
          <a:bodyPr wrap="square" rtlCol="0">
            <a:spAutoFit/>
          </a:bodyPr>
          <a:lstStyle/>
          <a:p>
            <a:pPr algn="just"/>
            <a:r>
              <a:rPr lang="en-IN" sz="1400" b="1" dirty="0">
                <a:latin typeface="Times New Roman" panose="02020603050405020304" pitchFamily="18" charset="0"/>
                <a:cs typeface="Times New Roman" panose="02020603050405020304" pitchFamily="18" charset="0"/>
              </a:rPr>
              <a:t>Problem Statement : </a:t>
            </a:r>
            <a:r>
              <a:rPr lang="en-IN" sz="1200" dirty="0">
                <a:latin typeface="Times New Roman" panose="02020603050405020304" pitchFamily="18" charset="0"/>
                <a:cs typeface="Times New Roman" panose="02020603050405020304" pitchFamily="18" charset="0"/>
              </a:rPr>
              <a:t>Develop an automatic seed sowing and spraying agriculture robot to enhance efficiency , reduce labour dependency , and ensure precise seed placement for smart farming</a:t>
            </a:r>
            <a:r>
              <a:rPr lang="en-US" sz="1200" dirty="0">
                <a:latin typeface="Times New Roman" panose="02020603050405020304" pitchFamily="18" charset="0"/>
                <a:cs typeface="Times New Roman" panose="02020603050405020304" pitchFamily="18" charset="0"/>
              </a:rPr>
              <a:t>. </a:t>
            </a:r>
            <a:endParaRPr lang="en-IN" sz="12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DC1D78AD-92C4-D411-5F9C-631F924F1AA2}"/>
              </a:ext>
            </a:extLst>
          </p:cNvPr>
          <p:cNvSpPr/>
          <p:nvPr/>
        </p:nvSpPr>
        <p:spPr>
          <a:xfrm>
            <a:off x="50518" y="3361478"/>
            <a:ext cx="5762765" cy="523220"/>
          </a:xfrm>
          <a:prstGeom prst="rect">
            <a:avLst/>
          </a:prstGeom>
        </p:spPr>
        <p:txBody>
          <a:bodyPr wrap="square">
            <a:spAutoFit/>
          </a:bodyPr>
          <a:lstStyle/>
          <a:p>
            <a:pPr algn="just"/>
            <a:r>
              <a:rPr lang="en-IN" sz="1400" b="1" dirty="0">
                <a:latin typeface="Times New Roman" panose="02020603050405020304" pitchFamily="18" charset="0"/>
                <a:cs typeface="Times New Roman" panose="02020603050405020304" pitchFamily="18" charset="0"/>
              </a:rPr>
              <a:t>Deliverables : </a:t>
            </a:r>
          </a:p>
          <a:p>
            <a:pPr algn="just"/>
            <a:endParaRPr lang="en-US" sz="1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7BE5A2F-05FB-B929-8B2E-A621EB72DDCA}"/>
              </a:ext>
            </a:extLst>
          </p:cNvPr>
          <p:cNvSpPr txBox="1"/>
          <p:nvPr/>
        </p:nvSpPr>
        <p:spPr>
          <a:xfrm>
            <a:off x="32518" y="4314505"/>
            <a:ext cx="6071534" cy="523220"/>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Training / Pre-Requisites</a:t>
            </a:r>
          </a:p>
          <a:p>
            <a:endParaRPr lang="en-IN" sz="1400"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C116B9C-F1E5-E24D-9D2F-D0E8A384333F}"/>
              </a:ext>
            </a:extLst>
          </p:cNvPr>
          <p:cNvSpPr txBox="1"/>
          <p:nvPr/>
        </p:nvSpPr>
        <p:spPr>
          <a:xfrm>
            <a:off x="24778" y="4946686"/>
            <a:ext cx="6199215" cy="1600438"/>
          </a:xfrm>
          <a:prstGeom prst="rect">
            <a:avLst/>
          </a:prstGeom>
        </p:spPr>
        <p:txBody>
          <a:bodyPr wrap="square">
            <a:spAutoFit/>
          </a:bodyPr>
          <a:lstStyle>
            <a:defPPr>
              <a:defRPr lang="en-US"/>
            </a:defPPr>
            <a:lvl1pPr>
              <a:defRPr sz="1400" b="1">
                <a:latin typeface="Arial" panose="020B0604020202020204" pitchFamily="34" charset="0"/>
                <a:cs typeface="Arial" panose="020B0604020202020204" pitchFamily="34" charset="0"/>
              </a:defRPr>
            </a:lvl1pPr>
          </a:lstStyle>
          <a:p>
            <a:r>
              <a:rPr lang="en-IN" dirty="0">
                <a:latin typeface="Times New Roman" panose="02020603050405020304" pitchFamily="18" charset="0"/>
                <a:cs typeface="Times New Roman" panose="02020603050405020304" pitchFamily="18" charset="0"/>
              </a:rPr>
              <a:t>Starter Reference Material</a:t>
            </a:r>
          </a:p>
          <a:p>
            <a:pPr marL="285750" indent="-285750" algn="just">
              <a:buFont typeface="Arial" panose="020B0604020202020204" pitchFamily="34" charset="0"/>
              <a:buChar char="•"/>
            </a:pPr>
            <a:r>
              <a:rPr lang="en-IN" sz="1200" b="0" dirty="0">
                <a:latin typeface="Times New Roman" panose="02020603050405020304" pitchFamily="18" charset="0"/>
                <a:cs typeface="Times New Roman" panose="02020603050405020304" pitchFamily="18" charset="0"/>
              </a:rPr>
              <a:t>Agribot: Arduino Controlled Automatic Seed Sowing Machine for Small Scale Cultivation, Avinash kumar Parmar, Talati Chaitanya J.(2024) </a:t>
            </a:r>
          </a:p>
          <a:p>
            <a:pPr marL="285750" indent="-285750" algn="just">
              <a:buFont typeface="Arial" panose="020B0604020202020204" pitchFamily="34" charset="0"/>
              <a:buChar char="•"/>
            </a:pPr>
            <a:r>
              <a:rPr lang="en-US" sz="1200" b="0" dirty="0">
                <a:latin typeface="Times New Roman" panose="02020603050405020304" pitchFamily="18" charset="0"/>
                <a:cs typeface="Times New Roman" panose="02020603050405020304" pitchFamily="18" charset="0"/>
              </a:rPr>
              <a:t>Design And Fabrication of Automatic Seed Sowing Machine Using Iot, Viraj Jedhe, Prathmesh Halake(2023)</a:t>
            </a:r>
          </a:p>
          <a:p>
            <a:pPr marL="285750" indent="-285750" algn="just">
              <a:buFont typeface="Arial" panose="020B0604020202020204" pitchFamily="34" charset="0"/>
              <a:buChar char="•"/>
            </a:pPr>
            <a:r>
              <a:rPr lang="en-US" sz="1200" b="0" dirty="0">
                <a:latin typeface="Times New Roman" panose="02020603050405020304" pitchFamily="18" charset="0"/>
                <a:cs typeface="Times New Roman" panose="02020603050405020304" pitchFamily="18" charset="0"/>
              </a:rPr>
              <a:t>Automatic Seed Sowing and Spraying Agriculture Robot, Narendra Chaurasia(2023)</a:t>
            </a:r>
          </a:p>
          <a:p>
            <a:pPr marL="285750" indent="-285750" algn="just">
              <a:buFont typeface="Arial" panose="020B0604020202020204" pitchFamily="34" charset="0"/>
              <a:buChar char="•"/>
            </a:pPr>
            <a:r>
              <a:rPr lang="en-US" sz="1200" b="0" dirty="0">
                <a:latin typeface="Times New Roman" panose="02020603050405020304" pitchFamily="18" charset="0"/>
                <a:cs typeface="Times New Roman" panose="02020603050405020304" pitchFamily="18" charset="0"/>
              </a:rPr>
              <a:t>Design of Automatic Seed Sowing Machine for Agriculture Sector, Ratnesh Kumara, Aadhar Govil(2022)</a:t>
            </a:r>
            <a:endParaRPr lang="en-IN" sz="1200" b="0" dirty="0">
              <a:latin typeface="Times New Roman" panose="02020603050405020304" pitchFamily="18" charset="0"/>
              <a:cs typeface="Times New Roman" panose="02020603050405020304" pitchFamily="18" charset="0"/>
            </a:endParaRPr>
          </a:p>
        </p:txBody>
      </p:sp>
      <p:sp>
        <p:nvSpPr>
          <p:cNvPr id="39" name="TextBox 38"/>
          <p:cNvSpPr txBox="1"/>
          <p:nvPr/>
        </p:nvSpPr>
        <p:spPr>
          <a:xfrm>
            <a:off x="7611356" y="3836192"/>
            <a:ext cx="646378" cy="430887"/>
          </a:xfrm>
          <a:prstGeom prst="rect">
            <a:avLst/>
          </a:prstGeom>
          <a:noFill/>
        </p:spPr>
        <p:txBody>
          <a:bodyPr wrap="square" rtlCol="0">
            <a:spAutoFit/>
          </a:bodyPr>
          <a:lstStyle/>
          <a:p>
            <a:r>
              <a:rPr lang="en-US" sz="1100" dirty="0">
                <a:solidFill>
                  <a:schemeClr val="bg1"/>
                </a:solidFill>
                <a:latin typeface="Times New Roman" panose="02020603050405020304" pitchFamily="18" charset="0"/>
                <a:cs typeface="Times New Roman" panose="02020603050405020304" pitchFamily="18" charset="0"/>
              </a:rPr>
              <a:t>Drivable</a:t>
            </a:r>
            <a:r>
              <a:rPr lang="en-US" sz="1100" dirty="0">
                <a:latin typeface="Times New Roman" panose="02020603050405020304" pitchFamily="18" charset="0"/>
                <a:cs typeface="Times New Roman" panose="02020603050405020304" pitchFamily="18" charset="0"/>
              </a:rPr>
              <a:t> </a:t>
            </a:r>
            <a:endParaRPr lang="en-IN" sz="1100" dirty="0">
              <a:latin typeface="Times New Roman" panose="02020603050405020304" pitchFamily="18" charset="0"/>
              <a:cs typeface="Times New Roman" panose="02020603050405020304" pitchFamily="18" charset="0"/>
            </a:endParaRPr>
          </a:p>
        </p:txBody>
      </p:sp>
      <p:sp>
        <p:nvSpPr>
          <p:cNvPr id="40" name="TextBox 39"/>
          <p:cNvSpPr txBox="1"/>
          <p:nvPr/>
        </p:nvSpPr>
        <p:spPr>
          <a:xfrm rot="21041253">
            <a:off x="7615597" y="3778673"/>
            <a:ext cx="646378" cy="261610"/>
          </a:xfrm>
          <a:prstGeom prst="rect">
            <a:avLst/>
          </a:prstGeom>
          <a:noFill/>
        </p:spPr>
        <p:txBody>
          <a:bodyPr wrap="square" rtlCol="0">
            <a:spAutoFit/>
          </a:bodyPr>
          <a:lstStyle/>
          <a:p>
            <a:r>
              <a:rPr lang="en-US" sz="1100" dirty="0">
                <a:solidFill>
                  <a:schemeClr val="bg1"/>
                </a:solidFill>
                <a:latin typeface="Times New Roman" panose="02020603050405020304" pitchFamily="18" charset="0"/>
                <a:cs typeface="Times New Roman" panose="02020603050405020304" pitchFamily="18" charset="0"/>
              </a:rPr>
              <a:t>arable</a:t>
            </a:r>
            <a:endParaRPr lang="en-IN" sz="1100" dirty="0">
              <a:latin typeface="Times New Roman" panose="02020603050405020304" pitchFamily="18" charset="0"/>
              <a:cs typeface="Times New Roman" panose="02020603050405020304" pitchFamily="18" charset="0"/>
            </a:endParaRPr>
          </a:p>
        </p:txBody>
      </p:sp>
      <p:sp>
        <p:nvSpPr>
          <p:cNvPr id="43" name="TextBox 42"/>
          <p:cNvSpPr txBox="1"/>
          <p:nvPr/>
        </p:nvSpPr>
        <p:spPr>
          <a:xfrm>
            <a:off x="6130221" y="5656469"/>
            <a:ext cx="2680879" cy="900246"/>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Identify requirements and finalize design.</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50" dirty="0">
                <a:solidFill>
                  <a:prstClr val="black"/>
                </a:solidFill>
                <a:latin typeface="Times New Roman" panose="02020603050405020304" pitchFamily="18" charset="0"/>
                <a:ea typeface="SamsungOne 800" panose="020B0903030303020204" pitchFamily="34" charset="0"/>
                <a:cs typeface="Times New Roman" panose="02020603050405020304" pitchFamily="18" charset="0"/>
              </a:rPr>
              <a:t>Select components(mechanical,electrical and software).</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Develop initial circuit and control system(Arduino &amp; Bluetooth).</a:t>
            </a:r>
          </a:p>
        </p:txBody>
      </p:sp>
      <p:sp>
        <p:nvSpPr>
          <p:cNvPr id="44" name="TextBox 43"/>
          <p:cNvSpPr txBox="1"/>
          <p:nvPr/>
        </p:nvSpPr>
        <p:spPr>
          <a:xfrm>
            <a:off x="8635550" y="5665624"/>
            <a:ext cx="1801040" cy="1223412"/>
          </a:xfrm>
          <a:prstGeom prst="rect">
            <a:avLst/>
          </a:prstGeom>
          <a:noFill/>
        </p:spPr>
        <p:txBody>
          <a:bodyPr wrap="square" rtlCol="0">
            <a:spAutoFit/>
          </a:bodyPr>
          <a:lstStyle/>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Asse</a:t>
            </a:r>
            <a:r>
              <a:rPr kumimoji="0" lang="en-IN" sz="105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mble mechanical structure(plough,seed dispenser, spraying system</a:t>
            </a:r>
            <a:r>
              <a:rPr lang="en-IN" sz="1050" dirty="0">
                <a:solidFill>
                  <a:prstClr val="black"/>
                </a:solidFill>
                <a:latin typeface="Times New Roman" panose="02020603050405020304" pitchFamily="18" charset="0"/>
                <a:ea typeface="SamsungOne 800" panose="020B0903030303020204" pitchFamily="34" charset="0"/>
                <a:cs typeface="Times New Roman" panose="02020603050405020304" pitchFamily="18" charset="0"/>
              </a:rPr>
              <a:t>).</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Integrate electronics and test mobile app for remote operation</a:t>
            </a:r>
            <a:r>
              <a:rPr kumimoji="0" lang="en-IN" sz="105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a:t>
            </a:r>
          </a:p>
        </p:txBody>
      </p:sp>
      <p:sp>
        <p:nvSpPr>
          <p:cNvPr id="45" name="TextBox 44"/>
          <p:cNvSpPr txBox="1"/>
          <p:nvPr/>
        </p:nvSpPr>
        <p:spPr>
          <a:xfrm>
            <a:off x="10177153" y="5604103"/>
            <a:ext cx="2027376" cy="8463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endParaRP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50" b="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Conduct field tests for seed sowing and spraying accuracy.</a:t>
            </a:r>
          </a:p>
          <a:p>
            <a:pPr marL="171450" marR="0" lvl="0" indent="-1714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prstClr val="black"/>
                </a:solidFill>
                <a:latin typeface="Times New Roman" panose="02020603050405020304" pitchFamily="18" charset="0"/>
                <a:ea typeface="SamsungOne 800" panose="020B0903030303020204" pitchFamily="34" charset="0"/>
                <a:cs typeface="Times New Roman" panose="02020603050405020304" pitchFamily="18" charset="0"/>
              </a:rPr>
              <a:t>Optimize performance and finalize documentation.</a:t>
            </a:r>
            <a:endParaRPr kumimoji="0" lang="en-US" sz="1050" b="0"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endParaRPr>
          </a:p>
        </p:txBody>
      </p:sp>
      <p:sp>
        <p:nvSpPr>
          <p:cNvPr id="46" name="Rectangle 45"/>
          <p:cNvSpPr/>
          <p:nvPr/>
        </p:nvSpPr>
        <p:spPr>
          <a:xfrm>
            <a:off x="6741168" y="4676713"/>
            <a:ext cx="765402" cy="276999"/>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Timeline</a:t>
            </a:r>
          </a:p>
        </p:txBody>
      </p:sp>
      <p:cxnSp>
        <p:nvCxnSpPr>
          <p:cNvPr id="47" name="Straight Connector 46"/>
          <p:cNvCxnSpPr>
            <a:stCxn id="48" idx="6"/>
          </p:cNvCxnSpPr>
          <p:nvPr/>
        </p:nvCxnSpPr>
        <p:spPr>
          <a:xfrm flipV="1">
            <a:off x="6637584" y="5671054"/>
            <a:ext cx="4645381" cy="9403"/>
          </a:xfrm>
          <a:prstGeom prst="line">
            <a:avLst/>
          </a:prstGeom>
          <a:ln w="12700">
            <a:solidFill>
              <a:srgbClr val="B2B2B2"/>
            </a:solidFill>
          </a:ln>
        </p:spPr>
        <p:style>
          <a:lnRef idx="1">
            <a:schemeClr val="dk1"/>
          </a:lnRef>
          <a:fillRef idx="0">
            <a:schemeClr val="dk1"/>
          </a:fillRef>
          <a:effectRef idx="0">
            <a:schemeClr val="dk1"/>
          </a:effectRef>
          <a:fontRef idx="minor">
            <a:schemeClr val="tx1"/>
          </a:fontRef>
        </p:style>
      </p:cxnSp>
      <p:sp>
        <p:nvSpPr>
          <p:cNvPr id="48" name="Oval 47"/>
          <p:cNvSpPr/>
          <p:nvPr/>
        </p:nvSpPr>
        <p:spPr>
          <a:xfrm>
            <a:off x="6495344" y="5609337"/>
            <a:ext cx="142240" cy="142240"/>
          </a:xfrm>
          <a:prstGeom prst="ellipse">
            <a:avLst/>
          </a:prstGeom>
          <a:solidFill>
            <a:srgbClr val="266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49" name="Oval 48"/>
          <p:cNvSpPr/>
          <p:nvPr/>
        </p:nvSpPr>
        <p:spPr>
          <a:xfrm>
            <a:off x="8848443" y="5583150"/>
            <a:ext cx="142240" cy="142240"/>
          </a:xfrm>
          <a:prstGeom prst="ellipse">
            <a:avLst/>
          </a:prstGeom>
          <a:solidFill>
            <a:srgbClr val="266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0" name="Oval 49"/>
          <p:cNvSpPr/>
          <p:nvPr/>
        </p:nvSpPr>
        <p:spPr>
          <a:xfrm>
            <a:off x="11230413" y="5604103"/>
            <a:ext cx="142240" cy="142240"/>
          </a:xfrm>
          <a:prstGeom prst="ellipse">
            <a:avLst/>
          </a:prstGeom>
          <a:solidFill>
            <a:srgbClr val="2664E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IN"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endParaRPr>
          </a:p>
        </p:txBody>
      </p:sp>
      <p:sp>
        <p:nvSpPr>
          <p:cNvPr id="51" name="Rectangle 50"/>
          <p:cNvSpPr/>
          <p:nvPr/>
        </p:nvSpPr>
        <p:spPr>
          <a:xfrm>
            <a:off x="6413076" y="5127897"/>
            <a:ext cx="1032654" cy="43088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Kick Off </a:t>
            </a:r>
            <a:b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b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&lt; 1</a:t>
            </a:r>
            <a:r>
              <a:rPr kumimoji="0" lang="en-IN" sz="1100" b="1" i="0" u="none" strike="noStrike" kern="1200" cap="none" spc="0" normalizeH="0" baseline="3000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st</a:t>
            </a: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  Month &gt;</a:t>
            </a:r>
          </a:p>
        </p:txBody>
      </p:sp>
      <p:sp>
        <p:nvSpPr>
          <p:cNvPr id="52" name="Rectangle 51"/>
          <p:cNvSpPr/>
          <p:nvPr/>
        </p:nvSpPr>
        <p:spPr>
          <a:xfrm>
            <a:off x="8609412" y="5127897"/>
            <a:ext cx="1395112"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Milestone 1 </a:t>
            </a:r>
            <a:b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b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&lt; 2</a:t>
            </a:r>
            <a:r>
              <a:rPr kumimoji="0" lang="en-IN" sz="1100" b="1" i="0" u="none" strike="noStrike" kern="1200" cap="none" spc="0" normalizeH="0" baseline="3000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nd</a:t>
            </a: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 Month &gt;</a:t>
            </a:r>
          </a:p>
        </p:txBody>
      </p:sp>
      <p:sp>
        <p:nvSpPr>
          <p:cNvPr id="53" name="Rectangle 52"/>
          <p:cNvSpPr/>
          <p:nvPr/>
        </p:nvSpPr>
        <p:spPr>
          <a:xfrm>
            <a:off x="10526277" y="5138269"/>
            <a:ext cx="1408271"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Milestone 2 </a:t>
            </a:r>
            <a:b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b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&lt; 3</a:t>
            </a:r>
            <a:r>
              <a:rPr kumimoji="0" lang="en-IN" sz="1100" b="1" i="0" u="none" strike="noStrike" kern="1200" cap="none" spc="0" normalizeH="0" baseline="3000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rd</a:t>
            </a: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 &amp; 4</a:t>
            </a:r>
            <a:r>
              <a:rPr kumimoji="0" lang="en-IN" sz="1100" b="1" i="0" u="none" strike="noStrike" kern="1200" cap="none" spc="0" normalizeH="0" baseline="3000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th</a:t>
            </a:r>
            <a:r>
              <a:rPr kumimoji="0" lang="en-IN" sz="1100" b="1" i="0" u="none" strike="noStrike" kern="1200" cap="none" spc="0" normalizeH="0" baseline="0" noProof="0" dirty="0">
                <a:ln>
                  <a:noFill/>
                </a:ln>
                <a:solidFill>
                  <a:prstClr val="black"/>
                </a:solidFill>
                <a:effectLst/>
                <a:uLnTx/>
                <a:uFillTx/>
                <a:latin typeface="Times New Roman" panose="02020603050405020304" pitchFamily="18" charset="0"/>
                <a:ea typeface="SamsungOne 800" panose="020B0903030303020204" pitchFamily="34" charset="0"/>
                <a:cs typeface="Times New Roman" panose="02020603050405020304" pitchFamily="18" charset="0"/>
              </a:rPr>
              <a:t> Month </a:t>
            </a:r>
          </a:p>
        </p:txBody>
      </p:sp>
      <p:sp>
        <p:nvSpPr>
          <p:cNvPr id="54" name="TextBox 53"/>
          <p:cNvSpPr txBox="1"/>
          <p:nvPr/>
        </p:nvSpPr>
        <p:spPr>
          <a:xfrm>
            <a:off x="93854" y="1362990"/>
            <a:ext cx="6379042" cy="1631216"/>
          </a:xfrm>
          <a:prstGeom prst="rect">
            <a:avLst/>
          </a:prstGeom>
          <a:noFill/>
        </p:spPr>
        <p:txBody>
          <a:bodyPr wrap="square" rtlCol="0">
            <a:spAutoFit/>
          </a:bodyPr>
          <a:lstStyle/>
          <a:p>
            <a:pPr algn="just"/>
            <a:r>
              <a:rPr lang="en-IN" sz="1400" b="1" dirty="0">
                <a:latin typeface="Times New Roman" panose="02020603050405020304" pitchFamily="18" charset="0"/>
                <a:cs typeface="Times New Roman" panose="02020603050405020304" pitchFamily="18" charset="0"/>
              </a:rPr>
              <a:t>Context:</a:t>
            </a:r>
            <a:r>
              <a:rPr lang="en-US" sz="1200" dirty="0">
                <a:latin typeface="Times New Roman" panose="02020603050405020304" pitchFamily="18" charset="0"/>
                <a:cs typeface="Times New Roman" panose="02020603050405020304" pitchFamily="18" charset="0"/>
              </a:rPr>
              <a:t>Typically, developing a low-cost, automated seed sowing machine addresses challenges like high labor costs and inefficient seed placement. Integrating mechanical, electrical, and software components enables autonomous soil digging, seed sowing, covering, and watering. Arduino and Bluetooth control allow remote operation via a mobile app. The mild steel structure includes a plough, seed dispenser, and compacting mechanism, powered by a rechargeable battery with optional solar integration. Performance evaluation shows improved efficiency and precision, though challenges in uneven terrains and seed adaptability remain, making it a scalable, cost-effective solution</a:t>
            </a:r>
            <a:r>
              <a:rPr lang="en-US" sz="1400" dirty="0"/>
              <a:t>.</a:t>
            </a:r>
            <a:endParaRPr lang="en-IN" sz="1400" u="sng" dirty="0">
              <a:solidFill>
                <a:srgbClr val="0070C0"/>
              </a:solidFill>
              <a:latin typeface="Times New Roman" panose="02020603050405020304" pitchFamily="18" charset="0"/>
              <a:cs typeface="Times New Roman" panose="02020603050405020304" pitchFamily="18" charset="0"/>
            </a:endParaRP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72536" y="165678"/>
            <a:ext cx="2637375" cy="566040"/>
          </a:xfrm>
          <a:prstGeom prst="rect">
            <a:avLst/>
          </a:prstGeom>
        </p:spPr>
      </p:pic>
      <p:sp>
        <p:nvSpPr>
          <p:cNvPr id="38" name="TextBox 37">
            <a:extLst>
              <a:ext uri="{FF2B5EF4-FFF2-40B4-BE49-F238E27FC236}">
                <a16:creationId xmlns:a16="http://schemas.microsoft.com/office/drawing/2014/main" id="{6012AB5E-1560-712F-8183-68EF2537F3A0}"/>
              </a:ext>
            </a:extLst>
          </p:cNvPr>
          <p:cNvSpPr txBox="1"/>
          <p:nvPr/>
        </p:nvSpPr>
        <p:spPr>
          <a:xfrm>
            <a:off x="50518" y="598790"/>
            <a:ext cx="9827012" cy="461665"/>
          </a:xfrm>
          <a:prstGeom prst="rect">
            <a:avLst/>
          </a:prstGeom>
          <a:noFill/>
        </p:spPr>
        <p:txBody>
          <a:bodyPr wrap="square">
            <a:spAutoFit/>
          </a:bodyPr>
          <a:lstStyle/>
          <a:p>
            <a:r>
              <a:rPr lang="en-IN" altLang="ko-KR" sz="1200" b="1" dirty="0">
                <a:solidFill>
                  <a:srgbClr val="0070C0"/>
                </a:solidFill>
                <a:latin typeface="Times New Roman" panose="02020603050405020304" pitchFamily="18" charset="0"/>
                <a:cs typeface="Times New Roman" panose="02020603050405020304" pitchFamily="18" charset="0"/>
              </a:rPr>
              <a:t>Batch No: A-14	Roll Nos:21 ,32 ,52 ,56		SRNs: 02FE22BEC020,02FE22BEC032,02FE22BEC054,02FE22BEC058		</a:t>
            </a:r>
            <a:endParaRPr lang="ko-KR" altLang="en-US" sz="1200" b="1" dirty="0">
              <a:solidFill>
                <a:srgbClr val="0070C0"/>
              </a:solidFill>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C8C8F426-AA0A-47B2-97AE-E40B33921625}"/>
              </a:ext>
            </a:extLst>
          </p:cNvPr>
          <p:cNvSpPr txBox="1"/>
          <p:nvPr/>
        </p:nvSpPr>
        <p:spPr>
          <a:xfrm>
            <a:off x="106604" y="979151"/>
            <a:ext cx="11827944" cy="276999"/>
          </a:xfrm>
          <a:prstGeom prst="rect">
            <a:avLst/>
          </a:prstGeom>
          <a:noFill/>
        </p:spPr>
        <p:txBody>
          <a:bodyPr wrap="square">
            <a:spAutoFit/>
          </a:bodyPr>
          <a:lstStyle/>
          <a:p>
            <a:r>
              <a:rPr lang="en-IN" altLang="ko-KR" sz="1200" b="1" dirty="0">
                <a:solidFill>
                  <a:srgbClr val="0070C0"/>
                </a:solidFill>
                <a:latin typeface="Times New Roman" panose="02020603050405020304" pitchFamily="18" charset="0"/>
                <a:cs typeface="Times New Roman" panose="02020603050405020304" pitchFamily="18" charset="0"/>
              </a:rPr>
              <a:t>Student Names: Chandrashekhar Bhavi, Jamuna Pulapatli , Priyanka Budihal , Pruthviraj Banoshi 	Guide: Dr. Prabhakar Manage</a:t>
            </a:r>
            <a:endParaRPr lang="ko-KR" altLang="en-US" sz="1200" b="1" dirty="0">
              <a:solidFill>
                <a:srgbClr val="0070C0"/>
              </a:solidFill>
              <a:latin typeface="Times New Roman" panose="02020603050405020304" pitchFamily="18" charset="0"/>
              <a:cs typeface="Times New Roman" panose="02020603050405020304" pitchFamily="18" charset="0"/>
            </a:endParaRPr>
          </a:p>
        </p:txBody>
      </p:sp>
      <p:sp>
        <p:nvSpPr>
          <p:cNvPr id="22" name="Rectangle 4">
            <a:extLst>
              <a:ext uri="{FF2B5EF4-FFF2-40B4-BE49-F238E27FC236}">
                <a16:creationId xmlns:a16="http://schemas.microsoft.com/office/drawing/2014/main" id="{615A38D5-90CE-C3AB-802E-4472290E5340}"/>
              </a:ext>
            </a:extLst>
          </p:cNvPr>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3" name="Rectangle 5">
            <a:extLst>
              <a:ext uri="{FF2B5EF4-FFF2-40B4-BE49-F238E27FC236}">
                <a16:creationId xmlns:a16="http://schemas.microsoft.com/office/drawing/2014/main" id="{88E9B2BF-52F2-00AB-48EB-9E03027CCAA7}"/>
              </a:ext>
            </a:extLst>
          </p:cNvPr>
          <p:cNvSpPr>
            <a:spLocks noChangeArrowheads="1"/>
          </p:cNvSpPr>
          <p:nvPr/>
        </p:nvSpPr>
        <p:spPr bwMode="auto">
          <a:xfrm>
            <a:off x="152400"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Rectangle 2">
            <a:extLst>
              <a:ext uri="{FF2B5EF4-FFF2-40B4-BE49-F238E27FC236}">
                <a16:creationId xmlns:a16="http://schemas.microsoft.com/office/drawing/2014/main" id="{55D699BF-E6D1-668F-C714-0F0C4F5A99FD}"/>
              </a:ext>
            </a:extLst>
          </p:cNvPr>
          <p:cNvSpPr>
            <a:spLocks noChangeArrowheads="1"/>
          </p:cNvSpPr>
          <p:nvPr/>
        </p:nvSpPr>
        <p:spPr bwMode="auto">
          <a:xfrm>
            <a:off x="184731" y="3314840"/>
            <a:ext cx="348069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Plough, seed dispenser, and compacting mechanism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Performance evaluation on efficiency and precision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Rechargeable battery with solar option </a:t>
            </a:r>
          </a:p>
        </p:txBody>
      </p:sp>
      <p:sp>
        <p:nvSpPr>
          <p:cNvPr id="21" name="Rectangle 3">
            <a:extLst>
              <a:ext uri="{FF2B5EF4-FFF2-40B4-BE49-F238E27FC236}">
                <a16:creationId xmlns:a16="http://schemas.microsoft.com/office/drawing/2014/main" id="{6AE7FD91-6FCB-9FCB-667D-0C9363FD36A9}"/>
              </a:ext>
            </a:extLst>
          </p:cNvPr>
          <p:cNvSpPr>
            <a:spLocks noChangeArrowheads="1"/>
          </p:cNvSpPr>
          <p:nvPr/>
        </p:nvSpPr>
        <p:spPr bwMode="auto">
          <a:xfrm>
            <a:off x="24778" y="4267079"/>
            <a:ext cx="5469318"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Basic knowledge of Arduino, Bluetooth communication, and mobile app integration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Understanding of mechanical components and automation in agriculture </a:t>
            </a:r>
          </a:p>
        </p:txBody>
      </p:sp>
      <p:pic>
        <p:nvPicPr>
          <p:cNvPr id="25" name="Picture 24">
            <a:extLst>
              <a:ext uri="{FF2B5EF4-FFF2-40B4-BE49-F238E27FC236}">
                <a16:creationId xmlns:a16="http://schemas.microsoft.com/office/drawing/2014/main" id="{B3C8006A-A536-7DEA-80C4-67B3F67CE10D}"/>
              </a:ext>
            </a:extLst>
          </p:cNvPr>
          <p:cNvPicPr>
            <a:picLocks noChangeAspect="1"/>
          </p:cNvPicPr>
          <p:nvPr/>
        </p:nvPicPr>
        <p:blipFill>
          <a:blip r:embed="rId4"/>
          <a:stretch>
            <a:fillRect/>
          </a:stretch>
        </p:blipFill>
        <p:spPr>
          <a:xfrm>
            <a:off x="7123869" y="1338624"/>
            <a:ext cx="4174093" cy="3374266"/>
          </a:xfrm>
          <a:prstGeom prst="rect">
            <a:avLst/>
          </a:prstGeom>
        </p:spPr>
      </p:pic>
    </p:spTree>
    <p:extLst>
      <p:ext uri="{BB962C8B-B14F-4D97-AF65-F5344CB8AC3E}">
        <p14:creationId xmlns:p14="http://schemas.microsoft.com/office/powerpoint/2010/main" val="4289930294"/>
      </p:ext>
    </p:extLst>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10869</TotalTime>
  <Words>396</Words>
  <Application>Microsoft Office PowerPoint</Application>
  <PresentationFormat>Widescreen</PresentationFormat>
  <Paragraphs>34</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Priyanka Budihal</cp:lastModifiedBy>
  <cp:revision>251</cp:revision>
  <dcterms:created xsi:type="dcterms:W3CDTF">2022-08-30T05:01:25Z</dcterms:created>
  <dcterms:modified xsi:type="dcterms:W3CDTF">2025-03-10T05:40:48Z</dcterms:modified>
</cp:coreProperties>
</file>