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3" r:id="rId3"/>
    <p:sldId id="269" r:id="rId4"/>
    <p:sldId id="270" r:id="rId5"/>
    <p:sldId id="261" r:id="rId6"/>
    <p:sldId id="271" r:id="rId7"/>
    <p:sldId id="272" r:id="rId8"/>
    <p:sldId id="278" r:id="rId9"/>
    <p:sldId id="279" r:id="rId10"/>
    <p:sldId id="280" r:id="rId11"/>
    <p:sldId id="283" r:id="rId12"/>
    <p:sldId id="281" r:id="rId13"/>
    <p:sldId id="275" r:id="rId14"/>
    <p:sldId id="282" r:id="rId15"/>
    <p:sldId id="284" r:id="rId16"/>
    <p:sldId id="286" r:id="rId17"/>
    <p:sldId id="285" r:id="rId18"/>
    <p:sldId id="26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4258"/>
    <a:srgbClr val="265073"/>
    <a:srgbClr val="96ADBC"/>
    <a:srgbClr val="0F3A5F"/>
    <a:srgbClr val="1A4065"/>
    <a:srgbClr val="0C364C"/>
    <a:srgbClr val="F9F2E2"/>
    <a:srgbClr val="4472C4"/>
    <a:srgbClr val="2B4E5D"/>
    <a:srgbClr val="6484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C0A197-DD30-4490-8713-FBE77BB47EC9}" v="5" dt="2025-06-10T07:25:41.0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8" d="100"/>
          <a:sy n="78" d="100"/>
        </p:scale>
        <p:origin x="86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iyanka Budihal" userId="2dd2abd5e02a52ca" providerId="LiveId" clId="{51C0A197-DD30-4490-8713-FBE77BB47EC9}"/>
    <pc:docChg chg="addSld modSld">
      <pc:chgData name="Priyanka Budihal" userId="2dd2abd5e02a52ca" providerId="LiveId" clId="{51C0A197-DD30-4490-8713-FBE77BB47EC9}" dt="2025-06-10T07:25:50.690" v="27" actId="1076"/>
      <pc:docMkLst>
        <pc:docMk/>
      </pc:docMkLst>
      <pc:sldChg chg="addSp modSp new mod">
        <pc:chgData name="Priyanka Budihal" userId="2dd2abd5e02a52ca" providerId="LiveId" clId="{51C0A197-DD30-4490-8713-FBE77BB47EC9}" dt="2025-06-10T07:24:44.875" v="21" actId="1076"/>
        <pc:sldMkLst>
          <pc:docMk/>
          <pc:sldMk cId="1568687188" sldId="286"/>
        </pc:sldMkLst>
        <pc:spChg chg="mod">
          <ac:chgData name="Priyanka Budihal" userId="2dd2abd5e02a52ca" providerId="LiveId" clId="{51C0A197-DD30-4490-8713-FBE77BB47EC9}" dt="2025-06-10T07:23:59.463" v="10" actId="113"/>
          <ac:spMkLst>
            <pc:docMk/>
            <pc:sldMk cId="1568687188" sldId="286"/>
            <ac:spMk id="2" creationId="{57206509-7D0B-E595-4373-AB8882E5E65A}"/>
          </ac:spMkLst>
        </pc:spChg>
        <pc:picChg chg="add mod">
          <ac:chgData name="Priyanka Budihal" userId="2dd2abd5e02a52ca" providerId="LiveId" clId="{51C0A197-DD30-4490-8713-FBE77BB47EC9}" dt="2025-06-10T07:24:39.455" v="20" actId="14100"/>
          <ac:picMkLst>
            <pc:docMk/>
            <pc:sldMk cId="1568687188" sldId="286"/>
            <ac:picMk id="4" creationId="{EF826113-5CE7-A63D-C16D-A402633B3A4E}"/>
          </ac:picMkLst>
        </pc:picChg>
        <pc:picChg chg="add mod">
          <ac:chgData name="Priyanka Budihal" userId="2dd2abd5e02a52ca" providerId="LiveId" clId="{51C0A197-DD30-4490-8713-FBE77BB47EC9}" dt="2025-06-10T07:24:44.875" v="21" actId="1076"/>
          <ac:picMkLst>
            <pc:docMk/>
            <pc:sldMk cId="1568687188" sldId="286"/>
            <ac:picMk id="6" creationId="{0597510B-6EBA-26BE-0DDD-B51F66DA35DC}"/>
          </ac:picMkLst>
        </pc:picChg>
      </pc:sldChg>
      <pc:sldChg chg="addSp modSp new mod modAnim">
        <pc:chgData name="Priyanka Budihal" userId="2dd2abd5e02a52ca" providerId="LiveId" clId="{51C0A197-DD30-4490-8713-FBE77BB47EC9}" dt="2025-06-10T07:25:50.690" v="27" actId="1076"/>
        <pc:sldMkLst>
          <pc:docMk/>
          <pc:sldMk cId="1510668526" sldId="287"/>
        </pc:sldMkLst>
        <pc:spChg chg="mod">
          <ac:chgData name="Priyanka Budihal" userId="2dd2abd5e02a52ca" providerId="LiveId" clId="{51C0A197-DD30-4490-8713-FBE77BB47EC9}" dt="2025-06-10T07:25:47.865" v="26" actId="1076"/>
          <ac:spMkLst>
            <pc:docMk/>
            <pc:sldMk cId="1510668526" sldId="287"/>
            <ac:spMk id="2" creationId="{DACE09DA-6ED3-E70A-8E22-9B839C69C34E}"/>
          </ac:spMkLst>
        </pc:spChg>
        <pc:picChg chg="add mod">
          <ac:chgData name="Priyanka Budihal" userId="2dd2abd5e02a52ca" providerId="LiveId" clId="{51C0A197-DD30-4490-8713-FBE77BB47EC9}" dt="2025-06-10T07:25:50.690" v="27" actId="1076"/>
          <ac:picMkLst>
            <pc:docMk/>
            <pc:sldMk cId="1510668526" sldId="287"/>
            <ac:picMk id="3" creationId="{90E8455D-A1D5-87B1-23CE-291E78A4942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46F5B-1CC4-BBF6-64A0-49FD0CD29F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209695B-EB4E-4373-0E0C-C0A0DD055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DBC178-CCC8-0688-4A06-2FC7E27884DA}"/>
              </a:ext>
            </a:extLst>
          </p:cNvPr>
          <p:cNvSpPr>
            <a:spLocks noGrp="1"/>
          </p:cNvSpPr>
          <p:nvPr>
            <p:ph type="dt" sz="half" idx="10"/>
          </p:nvPr>
        </p:nvSpPr>
        <p:spPr/>
        <p:txBody>
          <a:bodyPr/>
          <a:lstStyle/>
          <a:p>
            <a:fld id="{72C4A1B8-B730-4279-B5B7-A4B91B8E28B0}" type="datetimeFigureOut">
              <a:rPr lang="en-US" smtClean="0"/>
              <a:t>6/14/2026</a:t>
            </a:fld>
            <a:endParaRPr lang="en-US"/>
          </a:p>
        </p:txBody>
      </p:sp>
      <p:sp>
        <p:nvSpPr>
          <p:cNvPr id="5" name="Footer Placeholder 4">
            <a:extLst>
              <a:ext uri="{FF2B5EF4-FFF2-40B4-BE49-F238E27FC236}">
                <a16:creationId xmlns:a16="http://schemas.microsoft.com/office/drawing/2014/main" id="{DD821820-7524-B620-E14C-B0C812C42A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F603CC-46C3-996D-AD40-053EFB145DD2}"/>
              </a:ext>
            </a:extLst>
          </p:cNvPr>
          <p:cNvSpPr>
            <a:spLocks noGrp="1"/>
          </p:cNvSpPr>
          <p:nvPr>
            <p:ph type="sldNum" sz="quarter" idx="12"/>
          </p:nvPr>
        </p:nvSpPr>
        <p:spPr/>
        <p:txBody>
          <a:bodyPr/>
          <a:lstStyle/>
          <a:p>
            <a:fld id="{6DA27EBD-D867-469C-9DA1-AE0A57D4DD33}" type="slidenum">
              <a:rPr lang="en-US" smtClean="0"/>
              <a:t>‹#›</a:t>
            </a:fld>
            <a:endParaRPr lang="en-US"/>
          </a:p>
        </p:txBody>
      </p:sp>
    </p:spTree>
    <p:extLst>
      <p:ext uri="{BB962C8B-B14F-4D97-AF65-F5344CB8AC3E}">
        <p14:creationId xmlns:p14="http://schemas.microsoft.com/office/powerpoint/2010/main" val="1595580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01C94-BE04-AC34-8266-1FDA430820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C7B419-E33A-F40A-9055-96791551DD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208FEA-8AFF-42DF-C14D-560A5BAED991}"/>
              </a:ext>
            </a:extLst>
          </p:cNvPr>
          <p:cNvSpPr>
            <a:spLocks noGrp="1"/>
          </p:cNvSpPr>
          <p:nvPr>
            <p:ph type="dt" sz="half" idx="10"/>
          </p:nvPr>
        </p:nvSpPr>
        <p:spPr/>
        <p:txBody>
          <a:bodyPr/>
          <a:lstStyle/>
          <a:p>
            <a:fld id="{72C4A1B8-B730-4279-B5B7-A4B91B8E28B0}" type="datetimeFigureOut">
              <a:rPr lang="en-US" smtClean="0"/>
              <a:t>6/14/2026</a:t>
            </a:fld>
            <a:endParaRPr lang="en-US"/>
          </a:p>
        </p:txBody>
      </p:sp>
      <p:sp>
        <p:nvSpPr>
          <p:cNvPr id="5" name="Footer Placeholder 4">
            <a:extLst>
              <a:ext uri="{FF2B5EF4-FFF2-40B4-BE49-F238E27FC236}">
                <a16:creationId xmlns:a16="http://schemas.microsoft.com/office/drawing/2014/main" id="{CF3D7A8F-33D5-7802-EBBA-1BC4D3ADB2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2C57E8-FF4D-93B8-4FA9-DBB7E83875AE}"/>
              </a:ext>
            </a:extLst>
          </p:cNvPr>
          <p:cNvSpPr>
            <a:spLocks noGrp="1"/>
          </p:cNvSpPr>
          <p:nvPr>
            <p:ph type="sldNum" sz="quarter" idx="12"/>
          </p:nvPr>
        </p:nvSpPr>
        <p:spPr/>
        <p:txBody>
          <a:bodyPr/>
          <a:lstStyle/>
          <a:p>
            <a:fld id="{6DA27EBD-D867-469C-9DA1-AE0A57D4DD33}" type="slidenum">
              <a:rPr lang="en-US" smtClean="0"/>
              <a:t>‹#›</a:t>
            </a:fld>
            <a:endParaRPr lang="en-US"/>
          </a:p>
        </p:txBody>
      </p:sp>
    </p:spTree>
    <p:extLst>
      <p:ext uri="{BB962C8B-B14F-4D97-AF65-F5344CB8AC3E}">
        <p14:creationId xmlns:p14="http://schemas.microsoft.com/office/powerpoint/2010/main" val="1092560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C3540-9B49-B10B-2E21-A74F3DECC9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ACAFEB-AD2A-FB83-100C-2161677939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E82D69-C384-2619-1807-7B007893BAE5}"/>
              </a:ext>
            </a:extLst>
          </p:cNvPr>
          <p:cNvSpPr>
            <a:spLocks noGrp="1"/>
          </p:cNvSpPr>
          <p:nvPr>
            <p:ph type="dt" sz="half" idx="10"/>
          </p:nvPr>
        </p:nvSpPr>
        <p:spPr/>
        <p:txBody>
          <a:bodyPr/>
          <a:lstStyle/>
          <a:p>
            <a:fld id="{72C4A1B8-B730-4279-B5B7-A4B91B8E28B0}" type="datetimeFigureOut">
              <a:rPr lang="en-US" smtClean="0"/>
              <a:t>6/14/2026</a:t>
            </a:fld>
            <a:endParaRPr lang="en-US"/>
          </a:p>
        </p:txBody>
      </p:sp>
      <p:sp>
        <p:nvSpPr>
          <p:cNvPr id="5" name="Footer Placeholder 4">
            <a:extLst>
              <a:ext uri="{FF2B5EF4-FFF2-40B4-BE49-F238E27FC236}">
                <a16:creationId xmlns:a16="http://schemas.microsoft.com/office/drawing/2014/main" id="{F1E7C7D4-0824-388D-050D-D120ACED53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8A1FFE-674C-7CA8-1438-6D4BA297C67F}"/>
              </a:ext>
            </a:extLst>
          </p:cNvPr>
          <p:cNvSpPr>
            <a:spLocks noGrp="1"/>
          </p:cNvSpPr>
          <p:nvPr>
            <p:ph type="sldNum" sz="quarter" idx="12"/>
          </p:nvPr>
        </p:nvSpPr>
        <p:spPr/>
        <p:txBody>
          <a:bodyPr/>
          <a:lstStyle/>
          <a:p>
            <a:fld id="{6DA27EBD-D867-469C-9DA1-AE0A57D4DD33}" type="slidenum">
              <a:rPr lang="en-US" smtClean="0"/>
              <a:t>‹#›</a:t>
            </a:fld>
            <a:endParaRPr lang="en-US"/>
          </a:p>
        </p:txBody>
      </p:sp>
    </p:spTree>
    <p:extLst>
      <p:ext uri="{BB962C8B-B14F-4D97-AF65-F5344CB8AC3E}">
        <p14:creationId xmlns:p14="http://schemas.microsoft.com/office/powerpoint/2010/main" val="3819555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6C534-52B5-6718-8ED1-5DBEC16142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E5D045-5754-04D2-E8BE-BD6B611CA8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21A3F9-CC21-8E3C-984B-BC46FFBF13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6C4A10-10AD-DF87-6F8E-CE76C2DE4992}"/>
              </a:ext>
            </a:extLst>
          </p:cNvPr>
          <p:cNvSpPr>
            <a:spLocks noGrp="1"/>
          </p:cNvSpPr>
          <p:nvPr>
            <p:ph type="dt" sz="half" idx="10"/>
          </p:nvPr>
        </p:nvSpPr>
        <p:spPr/>
        <p:txBody>
          <a:bodyPr/>
          <a:lstStyle/>
          <a:p>
            <a:fld id="{72C4A1B8-B730-4279-B5B7-A4B91B8E28B0}" type="datetimeFigureOut">
              <a:rPr lang="en-US" smtClean="0"/>
              <a:t>6/14/2026</a:t>
            </a:fld>
            <a:endParaRPr lang="en-US"/>
          </a:p>
        </p:txBody>
      </p:sp>
      <p:sp>
        <p:nvSpPr>
          <p:cNvPr id="6" name="Footer Placeholder 5">
            <a:extLst>
              <a:ext uri="{FF2B5EF4-FFF2-40B4-BE49-F238E27FC236}">
                <a16:creationId xmlns:a16="http://schemas.microsoft.com/office/drawing/2014/main" id="{8E55B00A-3F03-E438-E767-18EB56B86B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0DAA5E-2DA6-EF64-3101-A0B4C7FF65DA}"/>
              </a:ext>
            </a:extLst>
          </p:cNvPr>
          <p:cNvSpPr>
            <a:spLocks noGrp="1"/>
          </p:cNvSpPr>
          <p:nvPr>
            <p:ph type="sldNum" sz="quarter" idx="12"/>
          </p:nvPr>
        </p:nvSpPr>
        <p:spPr/>
        <p:txBody>
          <a:bodyPr/>
          <a:lstStyle/>
          <a:p>
            <a:fld id="{6DA27EBD-D867-469C-9DA1-AE0A57D4DD33}" type="slidenum">
              <a:rPr lang="en-US" smtClean="0"/>
              <a:t>‹#›</a:t>
            </a:fld>
            <a:endParaRPr lang="en-US"/>
          </a:p>
        </p:txBody>
      </p:sp>
    </p:spTree>
    <p:extLst>
      <p:ext uri="{BB962C8B-B14F-4D97-AF65-F5344CB8AC3E}">
        <p14:creationId xmlns:p14="http://schemas.microsoft.com/office/powerpoint/2010/main" val="3315443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5B2E8-A90B-EAFC-7504-1BF3C5D636D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117C175-A035-F080-C081-F01D3A571D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9B75A9-380E-0B77-1F8D-1627DBE44D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BFE7192-605A-D257-9669-B57350CA3D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B096B2-2263-2C6F-1F8E-A0D2565C04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4D3958-FDC6-9850-17E7-815138A8BEB5}"/>
              </a:ext>
            </a:extLst>
          </p:cNvPr>
          <p:cNvSpPr>
            <a:spLocks noGrp="1"/>
          </p:cNvSpPr>
          <p:nvPr>
            <p:ph type="dt" sz="half" idx="10"/>
          </p:nvPr>
        </p:nvSpPr>
        <p:spPr/>
        <p:txBody>
          <a:bodyPr/>
          <a:lstStyle/>
          <a:p>
            <a:fld id="{72C4A1B8-B730-4279-B5B7-A4B91B8E28B0}" type="datetimeFigureOut">
              <a:rPr lang="en-US" smtClean="0"/>
              <a:t>6/14/2026</a:t>
            </a:fld>
            <a:endParaRPr lang="en-US"/>
          </a:p>
        </p:txBody>
      </p:sp>
      <p:sp>
        <p:nvSpPr>
          <p:cNvPr id="8" name="Footer Placeholder 7">
            <a:extLst>
              <a:ext uri="{FF2B5EF4-FFF2-40B4-BE49-F238E27FC236}">
                <a16:creationId xmlns:a16="http://schemas.microsoft.com/office/drawing/2014/main" id="{88B9959A-01F6-1835-1530-D028DCA398A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0358F3-9C3E-D141-C105-0958C8D10548}"/>
              </a:ext>
            </a:extLst>
          </p:cNvPr>
          <p:cNvSpPr>
            <a:spLocks noGrp="1"/>
          </p:cNvSpPr>
          <p:nvPr>
            <p:ph type="sldNum" sz="quarter" idx="12"/>
          </p:nvPr>
        </p:nvSpPr>
        <p:spPr/>
        <p:txBody>
          <a:bodyPr/>
          <a:lstStyle/>
          <a:p>
            <a:fld id="{6DA27EBD-D867-469C-9DA1-AE0A57D4DD33}" type="slidenum">
              <a:rPr lang="en-US" smtClean="0"/>
              <a:t>‹#›</a:t>
            </a:fld>
            <a:endParaRPr lang="en-US"/>
          </a:p>
        </p:txBody>
      </p:sp>
    </p:spTree>
    <p:extLst>
      <p:ext uri="{BB962C8B-B14F-4D97-AF65-F5344CB8AC3E}">
        <p14:creationId xmlns:p14="http://schemas.microsoft.com/office/powerpoint/2010/main" val="390044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B8734-4C8A-EAAB-2ADD-7FF8183026F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F72BCE-D52C-4EBB-55EE-19E011207E1D}"/>
              </a:ext>
            </a:extLst>
          </p:cNvPr>
          <p:cNvSpPr>
            <a:spLocks noGrp="1"/>
          </p:cNvSpPr>
          <p:nvPr>
            <p:ph type="dt" sz="half" idx="10"/>
          </p:nvPr>
        </p:nvSpPr>
        <p:spPr/>
        <p:txBody>
          <a:bodyPr/>
          <a:lstStyle/>
          <a:p>
            <a:fld id="{72C4A1B8-B730-4279-B5B7-A4B91B8E28B0}" type="datetimeFigureOut">
              <a:rPr lang="en-US" smtClean="0"/>
              <a:t>6/14/2026</a:t>
            </a:fld>
            <a:endParaRPr lang="en-US"/>
          </a:p>
        </p:txBody>
      </p:sp>
      <p:sp>
        <p:nvSpPr>
          <p:cNvPr id="4" name="Footer Placeholder 3">
            <a:extLst>
              <a:ext uri="{FF2B5EF4-FFF2-40B4-BE49-F238E27FC236}">
                <a16:creationId xmlns:a16="http://schemas.microsoft.com/office/drawing/2014/main" id="{5DE138A8-EA4F-91E9-1D95-6E301D54D4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BCA9492-60D7-8642-13AF-BA350B43A101}"/>
              </a:ext>
            </a:extLst>
          </p:cNvPr>
          <p:cNvSpPr>
            <a:spLocks noGrp="1"/>
          </p:cNvSpPr>
          <p:nvPr>
            <p:ph type="sldNum" sz="quarter" idx="12"/>
          </p:nvPr>
        </p:nvSpPr>
        <p:spPr/>
        <p:txBody>
          <a:bodyPr/>
          <a:lstStyle/>
          <a:p>
            <a:fld id="{6DA27EBD-D867-469C-9DA1-AE0A57D4DD33}" type="slidenum">
              <a:rPr lang="en-US" smtClean="0"/>
              <a:t>‹#›</a:t>
            </a:fld>
            <a:endParaRPr lang="en-US"/>
          </a:p>
        </p:txBody>
      </p:sp>
    </p:spTree>
    <p:extLst>
      <p:ext uri="{BB962C8B-B14F-4D97-AF65-F5344CB8AC3E}">
        <p14:creationId xmlns:p14="http://schemas.microsoft.com/office/powerpoint/2010/main" val="3931095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961463-0E84-278F-21FE-2BF243C822FC}"/>
              </a:ext>
            </a:extLst>
          </p:cNvPr>
          <p:cNvSpPr>
            <a:spLocks noGrp="1"/>
          </p:cNvSpPr>
          <p:nvPr>
            <p:ph type="dt" sz="half" idx="10"/>
          </p:nvPr>
        </p:nvSpPr>
        <p:spPr/>
        <p:txBody>
          <a:bodyPr/>
          <a:lstStyle/>
          <a:p>
            <a:fld id="{72C4A1B8-B730-4279-B5B7-A4B91B8E28B0}" type="datetimeFigureOut">
              <a:rPr lang="en-US" smtClean="0"/>
              <a:t>6/14/2026</a:t>
            </a:fld>
            <a:endParaRPr lang="en-US"/>
          </a:p>
        </p:txBody>
      </p:sp>
      <p:sp>
        <p:nvSpPr>
          <p:cNvPr id="3" name="Footer Placeholder 2">
            <a:extLst>
              <a:ext uri="{FF2B5EF4-FFF2-40B4-BE49-F238E27FC236}">
                <a16:creationId xmlns:a16="http://schemas.microsoft.com/office/drawing/2014/main" id="{962E882A-B044-E2A3-925A-AF3B24B02D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7BFF65-4D23-FCC3-0DA9-CB158CBB7E2F}"/>
              </a:ext>
            </a:extLst>
          </p:cNvPr>
          <p:cNvSpPr>
            <a:spLocks noGrp="1"/>
          </p:cNvSpPr>
          <p:nvPr>
            <p:ph type="sldNum" sz="quarter" idx="12"/>
          </p:nvPr>
        </p:nvSpPr>
        <p:spPr/>
        <p:txBody>
          <a:bodyPr/>
          <a:lstStyle/>
          <a:p>
            <a:fld id="{6DA27EBD-D867-469C-9DA1-AE0A57D4DD33}" type="slidenum">
              <a:rPr lang="en-US" smtClean="0"/>
              <a:t>‹#›</a:t>
            </a:fld>
            <a:endParaRPr lang="en-US"/>
          </a:p>
        </p:txBody>
      </p:sp>
    </p:spTree>
    <p:extLst>
      <p:ext uri="{BB962C8B-B14F-4D97-AF65-F5344CB8AC3E}">
        <p14:creationId xmlns:p14="http://schemas.microsoft.com/office/powerpoint/2010/main" val="3398115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EFEB3-B0D2-0A69-2E93-AE6FBB9F1E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A454F6C-6361-113F-DA91-1E69678F26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AFDF03-6629-1356-A4A8-2EA54EAA73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ADB322-02FA-0875-6515-7ED7768CBC59}"/>
              </a:ext>
            </a:extLst>
          </p:cNvPr>
          <p:cNvSpPr>
            <a:spLocks noGrp="1"/>
          </p:cNvSpPr>
          <p:nvPr>
            <p:ph type="dt" sz="half" idx="10"/>
          </p:nvPr>
        </p:nvSpPr>
        <p:spPr/>
        <p:txBody>
          <a:bodyPr/>
          <a:lstStyle/>
          <a:p>
            <a:fld id="{72C4A1B8-B730-4279-B5B7-A4B91B8E28B0}" type="datetimeFigureOut">
              <a:rPr lang="en-US" smtClean="0"/>
              <a:t>6/14/2026</a:t>
            </a:fld>
            <a:endParaRPr lang="en-US"/>
          </a:p>
        </p:txBody>
      </p:sp>
      <p:sp>
        <p:nvSpPr>
          <p:cNvPr id="6" name="Footer Placeholder 5">
            <a:extLst>
              <a:ext uri="{FF2B5EF4-FFF2-40B4-BE49-F238E27FC236}">
                <a16:creationId xmlns:a16="http://schemas.microsoft.com/office/drawing/2014/main" id="{302B0C97-18EB-9B69-8A16-EFF424ED4F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3F4758-D309-2ADD-DF73-D3541027EAA6}"/>
              </a:ext>
            </a:extLst>
          </p:cNvPr>
          <p:cNvSpPr>
            <a:spLocks noGrp="1"/>
          </p:cNvSpPr>
          <p:nvPr>
            <p:ph type="sldNum" sz="quarter" idx="12"/>
          </p:nvPr>
        </p:nvSpPr>
        <p:spPr/>
        <p:txBody>
          <a:bodyPr/>
          <a:lstStyle/>
          <a:p>
            <a:fld id="{6DA27EBD-D867-469C-9DA1-AE0A57D4DD33}" type="slidenum">
              <a:rPr lang="en-US" smtClean="0"/>
              <a:t>‹#›</a:t>
            </a:fld>
            <a:endParaRPr lang="en-US"/>
          </a:p>
        </p:txBody>
      </p:sp>
    </p:spTree>
    <p:extLst>
      <p:ext uri="{BB962C8B-B14F-4D97-AF65-F5344CB8AC3E}">
        <p14:creationId xmlns:p14="http://schemas.microsoft.com/office/powerpoint/2010/main" val="673777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AED17-7267-6074-B252-15C689F33D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5DE7013-9FAE-42C4-D7BE-BCEC791C2D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1689AD1-FEC0-6534-83D3-DA849F87F7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78B18A-3CCE-5CD5-2C73-5623DB9D1CB1}"/>
              </a:ext>
            </a:extLst>
          </p:cNvPr>
          <p:cNvSpPr>
            <a:spLocks noGrp="1"/>
          </p:cNvSpPr>
          <p:nvPr>
            <p:ph type="dt" sz="half" idx="10"/>
          </p:nvPr>
        </p:nvSpPr>
        <p:spPr/>
        <p:txBody>
          <a:bodyPr/>
          <a:lstStyle/>
          <a:p>
            <a:fld id="{72C4A1B8-B730-4279-B5B7-A4B91B8E28B0}" type="datetimeFigureOut">
              <a:rPr lang="en-US" smtClean="0"/>
              <a:t>6/14/2026</a:t>
            </a:fld>
            <a:endParaRPr lang="en-US"/>
          </a:p>
        </p:txBody>
      </p:sp>
      <p:sp>
        <p:nvSpPr>
          <p:cNvPr id="6" name="Footer Placeholder 5">
            <a:extLst>
              <a:ext uri="{FF2B5EF4-FFF2-40B4-BE49-F238E27FC236}">
                <a16:creationId xmlns:a16="http://schemas.microsoft.com/office/drawing/2014/main" id="{F24B2F71-C94B-21E7-F381-5F76564CEE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CDC5B0-E411-AAC3-F7C9-A502B5D04C6F}"/>
              </a:ext>
            </a:extLst>
          </p:cNvPr>
          <p:cNvSpPr>
            <a:spLocks noGrp="1"/>
          </p:cNvSpPr>
          <p:nvPr>
            <p:ph type="sldNum" sz="quarter" idx="12"/>
          </p:nvPr>
        </p:nvSpPr>
        <p:spPr/>
        <p:txBody>
          <a:bodyPr/>
          <a:lstStyle/>
          <a:p>
            <a:fld id="{6DA27EBD-D867-469C-9DA1-AE0A57D4DD33}" type="slidenum">
              <a:rPr lang="en-US" smtClean="0"/>
              <a:t>‹#›</a:t>
            </a:fld>
            <a:endParaRPr lang="en-US"/>
          </a:p>
        </p:txBody>
      </p:sp>
    </p:spTree>
    <p:extLst>
      <p:ext uri="{BB962C8B-B14F-4D97-AF65-F5344CB8AC3E}">
        <p14:creationId xmlns:p14="http://schemas.microsoft.com/office/powerpoint/2010/main" val="1520047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DFF3D-DA69-2AB9-0E13-6B0BBD22FFD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CDDE64D-445C-AC09-1A2C-D948D16617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A9A912-52CD-AFE6-F681-33D1086C3A55}"/>
              </a:ext>
            </a:extLst>
          </p:cNvPr>
          <p:cNvSpPr>
            <a:spLocks noGrp="1"/>
          </p:cNvSpPr>
          <p:nvPr>
            <p:ph type="dt" sz="half" idx="10"/>
          </p:nvPr>
        </p:nvSpPr>
        <p:spPr/>
        <p:txBody>
          <a:bodyPr/>
          <a:lstStyle/>
          <a:p>
            <a:fld id="{72C4A1B8-B730-4279-B5B7-A4B91B8E28B0}" type="datetimeFigureOut">
              <a:rPr lang="en-US" smtClean="0"/>
              <a:t>6/14/2026</a:t>
            </a:fld>
            <a:endParaRPr lang="en-US"/>
          </a:p>
        </p:txBody>
      </p:sp>
      <p:sp>
        <p:nvSpPr>
          <p:cNvPr id="5" name="Footer Placeholder 4">
            <a:extLst>
              <a:ext uri="{FF2B5EF4-FFF2-40B4-BE49-F238E27FC236}">
                <a16:creationId xmlns:a16="http://schemas.microsoft.com/office/drawing/2014/main" id="{9926801B-B44D-93B2-F04B-C052E2A1FC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766D76-1CA8-17E7-8A95-BA3FFD0FA63C}"/>
              </a:ext>
            </a:extLst>
          </p:cNvPr>
          <p:cNvSpPr>
            <a:spLocks noGrp="1"/>
          </p:cNvSpPr>
          <p:nvPr>
            <p:ph type="sldNum" sz="quarter" idx="12"/>
          </p:nvPr>
        </p:nvSpPr>
        <p:spPr/>
        <p:txBody>
          <a:bodyPr/>
          <a:lstStyle/>
          <a:p>
            <a:fld id="{6DA27EBD-D867-469C-9DA1-AE0A57D4DD33}" type="slidenum">
              <a:rPr lang="en-US" smtClean="0"/>
              <a:t>‹#›</a:t>
            </a:fld>
            <a:endParaRPr lang="en-US"/>
          </a:p>
        </p:txBody>
      </p:sp>
    </p:spTree>
    <p:extLst>
      <p:ext uri="{BB962C8B-B14F-4D97-AF65-F5344CB8AC3E}">
        <p14:creationId xmlns:p14="http://schemas.microsoft.com/office/powerpoint/2010/main" val="1577646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F0DB6C-4B9A-A0B6-3E5C-8EF1D9B0B01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D32E781-81D4-1CD1-B3E9-76BE9C972E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139A15-115B-357F-DAD0-A4F22623ADB5}"/>
              </a:ext>
            </a:extLst>
          </p:cNvPr>
          <p:cNvSpPr>
            <a:spLocks noGrp="1"/>
          </p:cNvSpPr>
          <p:nvPr>
            <p:ph type="dt" sz="half" idx="10"/>
          </p:nvPr>
        </p:nvSpPr>
        <p:spPr/>
        <p:txBody>
          <a:bodyPr/>
          <a:lstStyle/>
          <a:p>
            <a:fld id="{72C4A1B8-B730-4279-B5B7-A4B91B8E28B0}" type="datetimeFigureOut">
              <a:rPr lang="en-US" smtClean="0"/>
              <a:t>6/14/2026</a:t>
            </a:fld>
            <a:endParaRPr lang="en-US"/>
          </a:p>
        </p:txBody>
      </p:sp>
      <p:sp>
        <p:nvSpPr>
          <p:cNvPr id="5" name="Footer Placeholder 4">
            <a:extLst>
              <a:ext uri="{FF2B5EF4-FFF2-40B4-BE49-F238E27FC236}">
                <a16:creationId xmlns:a16="http://schemas.microsoft.com/office/drawing/2014/main" id="{E0063C82-C56F-4362-5089-1CBF8A5D39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D2E653-FA3D-7BB1-F321-3958895CF6B4}"/>
              </a:ext>
            </a:extLst>
          </p:cNvPr>
          <p:cNvSpPr>
            <a:spLocks noGrp="1"/>
          </p:cNvSpPr>
          <p:nvPr>
            <p:ph type="sldNum" sz="quarter" idx="12"/>
          </p:nvPr>
        </p:nvSpPr>
        <p:spPr/>
        <p:txBody>
          <a:bodyPr/>
          <a:lstStyle/>
          <a:p>
            <a:fld id="{6DA27EBD-D867-469C-9DA1-AE0A57D4DD33}" type="slidenum">
              <a:rPr lang="en-US" smtClean="0"/>
              <a:t>‹#›</a:t>
            </a:fld>
            <a:endParaRPr lang="en-US"/>
          </a:p>
        </p:txBody>
      </p:sp>
    </p:spTree>
    <p:extLst>
      <p:ext uri="{BB962C8B-B14F-4D97-AF65-F5344CB8AC3E}">
        <p14:creationId xmlns:p14="http://schemas.microsoft.com/office/powerpoint/2010/main" val="3706449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553000-44A5-570C-4295-CE075B90F7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DBDDC7-5F64-5348-778D-63CB090A17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B6E33C-6DCB-8FB9-A51F-A8261FF7D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C4A1B8-B730-4279-B5B7-A4B91B8E28B0}" type="datetimeFigureOut">
              <a:rPr lang="en-US" smtClean="0"/>
              <a:t>6/14/2026</a:t>
            </a:fld>
            <a:endParaRPr lang="en-US"/>
          </a:p>
        </p:txBody>
      </p:sp>
      <p:sp>
        <p:nvSpPr>
          <p:cNvPr id="5" name="Footer Placeholder 4">
            <a:extLst>
              <a:ext uri="{FF2B5EF4-FFF2-40B4-BE49-F238E27FC236}">
                <a16:creationId xmlns:a16="http://schemas.microsoft.com/office/drawing/2014/main" id="{47AA52F6-1756-B876-1AF2-82E095360C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833E4AB-7D18-6E60-7315-A546638946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A27EBD-D867-469C-9DA1-AE0A57D4DD33}" type="slidenum">
              <a:rPr lang="en-US" smtClean="0"/>
              <a:t>‹#›</a:t>
            </a:fld>
            <a:endParaRPr lang="en-US"/>
          </a:p>
        </p:txBody>
      </p:sp>
    </p:spTree>
    <p:extLst>
      <p:ext uri="{BB962C8B-B14F-4D97-AF65-F5344CB8AC3E}">
        <p14:creationId xmlns:p14="http://schemas.microsoft.com/office/powerpoint/2010/main" val="40526955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26B08-BEEE-27AA-75EE-A41F08FEF77D}"/>
              </a:ext>
            </a:extLst>
          </p:cNvPr>
          <p:cNvSpPr>
            <a:spLocks noGrp="1"/>
          </p:cNvSpPr>
          <p:nvPr>
            <p:ph type="ctrTitle"/>
          </p:nvPr>
        </p:nvSpPr>
        <p:spPr>
          <a:xfrm>
            <a:off x="1632155" y="1838543"/>
            <a:ext cx="9144000" cy="1504337"/>
          </a:xfrm>
        </p:spPr>
        <p:txBody>
          <a:bodyPr>
            <a:noAutofit/>
          </a:bodyPr>
          <a:lstStyle/>
          <a:p>
            <a:br>
              <a:rPr lang="en-US" sz="2400" b="1" u="sng" dirty="0">
                <a:solidFill>
                  <a:schemeClr val="bg2">
                    <a:lumMod val="25000"/>
                  </a:schemeClr>
                </a:solidFill>
              </a:rPr>
            </a:br>
            <a:br>
              <a:rPr lang="en-US" sz="2400" b="1" u="sng" dirty="0">
                <a:solidFill>
                  <a:schemeClr val="bg2">
                    <a:lumMod val="25000"/>
                  </a:schemeClr>
                </a:solidFill>
              </a:rPr>
            </a:br>
            <a:r>
              <a:rPr lang="en-US" sz="2400" dirty="0">
                <a:solidFill>
                  <a:schemeClr val="bg2">
                    <a:lumMod val="25000"/>
                  </a:schemeClr>
                </a:solidFill>
                <a:effectLst/>
                <a:latin typeface="Calibri" panose="020F0502020204030204" pitchFamily="34" charset="0"/>
                <a:ea typeface="Calibri" panose="020F0502020204030204" pitchFamily="34" charset="0"/>
              </a:rPr>
              <a:t> </a:t>
            </a:r>
            <a:r>
              <a:rPr lang="en-US" altLang="ko-KR" sz="2400" b="1" dirty="0">
                <a:solidFill>
                  <a:schemeClr val="bg2">
                    <a:lumMod val="25000"/>
                  </a:schemeClr>
                </a:solidFill>
                <a:latin typeface="Times New Roman" panose="02020603050405020304" pitchFamily="18" charset="0"/>
                <a:cs typeface="Times New Roman" panose="02020603050405020304" pitchFamily="18" charset="0"/>
              </a:rPr>
              <a:t>Automatic Seed Sowing and Spraying Agriculture Robot</a:t>
            </a:r>
            <a:br>
              <a:rPr lang="ko-KR" altLang="en-US" sz="2400" b="1" dirty="0">
                <a:solidFill>
                  <a:schemeClr val="bg2">
                    <a:lumMod val="25000"/>
                  </a:schemeClr>
                </a:solidFill>
                <a:latin typeface="Times New Roman" panose="02020603050405020304" pitchFamily="18" charset="0"/>
                <a:cs typeface="Times New Roman" panose="02020603050405020304" pitchFamily="18" charset="0"/>
              </a:rPr>
            </a:br>
            <a:br>
              <a:rPr lang="en-US" sz="2400" dirty="0">
                <a:solidFill>
                  <a:schemeClr val="bg2">
                    <a:lumMod val="25000"/>
                  </a:schemeClr>
                </a:solidFill>
              </a:rPr>
            </a:br>
            <a:endParaRPr lang="en-US" sz="2400" dirty="0">
              <a:solidFill>
                <a:schemeClr val="bg2">
                  <a:lumMod val="25000"/>
                </a:schemeClr>
              </a:solidFill>
            </a:endParaRPr>
          </a:p>
        </p:txBody>
      </p:sp>
      <p:sp>
        <p:nvSpPr>
          <p:cNvPr id="3" name="Subtitle 2">
            <a:extLst>
              <a:ext uri="{FF2B5EF4-FFF2-40B4-BE49-F238E27FC236}">
                <a16:creationId xmlns:a16="http://schemas.microsoft.com/office/drawing/2014/main" id="{63FCE00E-32F9-6A5C-AECA-089AF241F2BA}"/>
              </a:ext>
            </a:extLst>
          </p:cNvPr>
          <p:cNvSpPr>
            <a:spLocks noGrp="1"/>
          </p:cNvSpPr>
          <p:nvPr>
            <p:ph type="subTitle" idx="1"/>
          </p:nvPr>
        </p:nvSpPr>
        <p:spPr>
          <a:xfrm>
            <a:off x="1376517" y="5334000"/>
            <a:ext cx="9144000" cy="471949"/>
          </a:xfrm>
        </p:spPr>
        <p:txBody>
          <a:bodyPr>
            <a:normAutofit/>
          </a:bodyPr>
          <a:lstStyle/>
          <a:p>
            <a:r>
              <a:rPr lang="en-IN" altLang="ko-KR" sz="1600" b="1" dirty="0">
                <a:solidFill>
                  <a:schemeClr val="tx1">
                    <a:lumMod val="95000"/>
                    <a:lumOff val="5000"/>
                  </a:schemeClr>
                </a:solidFill>
                <a:latin typeface="Times New Roman" panose="02020603050405020304" pitchFamily="18" charset="0"/>
                <a:cs typeface="Times New Roman" panose="02020603050405020304" pitchFamily="18" charset="0"/>
              </a:rPr>
              <a:t>Guide: Dr. Prabhakar Manage</a:t>
            </a:r>
            <a:endParaRPr lang="en-US" sz="1600" dirty="0">
              <a:solidFill>
                <a:schemeClr val="tx1">
                  <a:lumMod val="95000"/>
                  <a:lumOff val="5000"/>
                </a:schemeClr>
              </a:solidFill>
            </a:endParaRPr>
          </a:p>
        </p:txBody>
      </p:sp>
      <p:graphicFrame>
        <p:nvGraphicFramePr>
          <p:cNvPr id="5" name="Table 4">
            <a:extLst>
              <a:ext uri="{FF2B5EF4-FFF2-40B4-BE49-F238E27FC236}">
                <a16:creationId xmlns:a16="http://schemas.microsoft.com/office/drawing/2014/main" id="{39291E94-04F3-2AD2-D0AB-DE732A9F4231}"/>
              </a:ext>
            </a:extLst>
          </p:cNvPr>
          <p:cNvGraphicFramePr>
            <a:graphicFrameLocks noGrp="1"/>
          </p:cNvGraphicFramePr>
          <p:nvPr>
            <p:extLst>
              <p:ext uri="{D42A27DB-BD31-4B8C-83A1-F6EECF244321}">
                <p14:modId xmlns:p14="http://schemas.microsoft.com/office/powerpoint/2010/main" val="4054337919"/>
              </p:ext>
            </p:extLst>
          </p:nvPr>
        </p:nvGraphicFramePr>
        <p:xfrm>
          <a:off x="2207743" y="3118137"/>
          <a:ext cx="7992823" cy="1828800"/>
        </p:xfrm>
        <a:graphic>
          <a:graphicData uri="http://schemas.openxmlformats.org/drawingml/2006/table">
            <a:tbl>
              <a:tblPr firstRow="1" bandRow="1">
                <a:tableStyleId>{5C22544A-7EE6-4342-B048-85BDC9FD1C3A}</a:tableStyleId>
              </a:tblPr>
              <a:tblGrid>
                <a:gridCol w="1135380">
                  <a:extLst>
                    <a:ext uri="{9D8B030D-6E8A-4147-A177-3AD203B41FA5}">
                      <a16:colId xmlns:a16="http://schemas.microsoft.com/office/drawing/2014/main" val="2449429035"/>
                    </a:ext>
                  </a:extLst>
                </a:gridCol>
                <a:gridCol w="2803275">
                  <a:extLst>
                    <a:ext uri="{9D8B030D-6E8A-4147-A177-3AD203B41FA5}">
                      <a16:colId xmlns:a16="http://schemas.microsoft.com/office/drawing/2014/main" val="4081781578"/>
                    </a:ext>
                  </a:extLst>
                </a:gridCol>
                <a:gridCol w="2022168">
                  <a:extLst>
                    <a:ext uri="{9D8B030D-6E8A-4147-A177-3AD203B41FA5}">
                      <a16:colId xmlns:a16="http://schemas.microsoft.com/office/drawing/2014/main" val="210237146"/>
                    </a:ext>
                  </a:extLst>
                </a:gridCol>
                <a:gridCol w="2032000">
                  <a:extLst>
                    <a:ext uri="{9D8B030D-6E8A-4147-A177-3AD203B41FA5}">
                      <a16:colId xmlns:a16="http://schemas.microsoft.com/office/drawing/2014/main" val="882078965"/>
                    </a:ext>
                  </a:extLst>
                </a:gridCol>
              </a:tblGrid>
              <a:tr h="125197">
                <a:tc>
                  <a:txBody>
                    <a:bodyPr/>
                    <a:lstStyle/>
                    <a:p>
                      <a:r>
                        <a:rPr lang="en-US" dirty="0"/>
                        <a:t>       SI.NO</a:t>
                      </a:r>
                    </a:p>
                  </a:txBody>
                  <a:tcPr/>
                </a:tc>
                <a:tc>
                  <a:txBody>
                    <a:bodyPr/>
                    <a:lstStyle/>
                    <a:p>
                      <a:r>
                        <a:rPr lang="en-US" dirty="0"/>
                        <a:t>           NAME</a:t>
                      </a:r>
                    </a:p>
                  </a:txBody>
                  <a:tcPr/>
                </a:tc>
                <a:tc>
                  <a:txBody>
                    <a:bodyPr/>
                    <a:lstStyle/>
                    <a:p>
                      <a:r>
                        <a:rPr lang="en-US" dirty="0"/>
                        <a:t>            USN</a:t>
                      </a:r>
                    </a:p>
                  </a:txBody>
                  <a:tcPr/>
                </a:tc>
                <a:tc>
                  <a:txBody>
                    <a:bodyPr/>
                    <a:lstStyle/>
                    <a:p>
                      <a:r>
                        <a:rPr lang="en-US" dirty="0"/>
                        <a:t>       ROLL.NO</a:t>
                      </a:r>
                    </a:p>
                  </a:txBody>
                  <a:tcPr/>
                </a:tc>
                <a:extLst>
                  <a:ext uri="{0D108BD9-81ED-4DB2-BD59-A6C34878D82A}">
                    <a16:rowId xmlns:a16="http://schemas.microsoft.com/office/drawing/2014/main" val="4056117760"/>
                  </a:ext>
                </a:extLst>
              </a:tr>
              <a:tr h="117550">
                <a:tc>
                  <a:txBody>
                    <a:bodyPr/>
                    <a:lstStyle/>
                    <a:p>
                      <a:r>
                        <a:rPr lang="en-US" dirty="0"/>
                        <a:t>           1)</a:t>
                      </a:r>
                    </a:p>
                  </a:txBody>
                  <a:tcPr/>
                </a:tc>
                <a:tc>
                  <a:txBody>
                    <a:bodyPr/>
                    <a:lstStyle/>
                    <a:p>
                      <a:r>
                        <a:rPr lang="en-IN" altLang="ko-KR" sz="1800" b="0" dirty="0">
                          <a:solidFill>
                            <a:schemeClr val="tx1"/>
                          </a:solidFill>
                          <a:latin typeface="+mn-lt"/>
                          <a:cs typeface="Times New Roman" panose="02020603050405020304" pitchFamily="18" charset="0"/>
                        </a:rPr>
                        <a:t>Chandrashekhar Bhavi</a:t>
                      </a:r>
                      <a:endParaRPr lang="en-US" b="0" dirty="0">
                        <a:solidFill>
                          <a:schemeClr val="tx1"/>
                        </a:solidFill>
                        <a:latin typeface="+mn-lt"/>
                      </a:endParaRPr>
                    </a:p>
                  </a:txBody>
                  <a:tcPr/>
                </a:tc>
                <a:tc>
                  <a:txBody>
                    <a:bodyPr/>
                    <a:lstStyle/>
                    <a:p>
                      <a:r>
                        <a:rPr lang="en-US" dirty="0"/>
                        <a:t>02FE21BEC020</a:t>
                      </a:r>
                    </a:p>
                  </a:txBody>
                  <a:tcPr/>
                </a:tc>
                <a:tc>
                  <a:txBody>
                    <a:bodyPr/>
                    <a:lstStyle/>
                    <a:p>
                      <a:r>
                        <a:rPr lang="en-US" dirty="0"/>
                        <a:t>                21</a:t>
                      </a:r>
                    </a:p>
                  </a:txBody>
                  <a:tcPr/>
                </a:tc>
                <a:extLst>
                  <a:ext uri="{0D108BD9-81ED-4DB2-BD59-A6C34878D82A}">
                    <a16:rowId xmlns:a16="http://schemas.microsoft.com/office/drawing/2014/main" val="3549879874"/>
                  </a:ext>
                </a:extLst>
              </a:tr>
              <a:tr h="138853">
                <a:tc>
                  <a:txBody>
                    <a:bodyPr/>
                    <a:lstStyle/>
                    <a:p>
                      <a:r>
                        <a:rPr lang="en-US" dirty="0"/>
                        <a:t>           2)</a:t>
                      </a:r>
                    </a:p>
                  </a:txBody>
                  <a:tcPr/>
                </a:tc>
                <a:tc>
                  <a:txBody>
                    <a:bodyPr/>
                    <a:lstStyle/>
                    <a:p>
                      <a:r>
                        <a:rPr lang="en-US" b="0" dirty="0"/>
                        <a:t>Jamuna Pulpatali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02FE21BEC032</a:t>
                      </a:r>
                    </a:p>
                  </a:txBody>
                  <a:tcPr/>
                </a:tc>
                <a:tc>
                  <a:txBody>
                    <a:bodyPr/>
                    <a:lstStyle/>
                    <a:p>
                      <a:r>
                        <a:rPr lang="en-US" dirty="0"/>
                        <a:t>                32</a:t>
                      </a:r>
                    </a:p>
                  </a:txBody>
                  <a:tcPr/>
                </a:tc>
                <a:extLst>
                  <a:ext uri="{0D108BD9-81ED-4DB2-BD59-A6C34878D82A}">
                    <a16:rowId xmlns:a16="http://schemas.microsoft.com/office/drawing/2014/main" val="4107786735"/>
                  </a:ext>
                </a:extLst>
              </a:tr>
              <a:tr h="117550">
                <a:tc>
                  <a:txBody>
                    <a:bodyPr/>
                    <a:lstStyle/>
                    <a:p>
                      <a:r>
                        <a:rPr lang="en-US" dirty="0"/>
                        <a:t>           3)</a:t>
                      </a:r>
                    </a:p>
                  </a:txBody>
                  <a:tcPr/>
                </a:tc>
                <a:tc>
                  <a:txBody>
                    <a:bodyPr/>
                    <a:lstStyle/>
                    <a:p>
                      <a:r>
                        <a:rPr lang="en-US" dirty="0"/>
                        <a:t>Priyanka Budihal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02FE21BEC054</a:t>
                      </a:r>
                    </a:p>
                  </a:txBody>
                  <a:tcPr/>
                </a:tc>
                <a:tc>
                  <a:txBody>
                    <a:bodyPr/>
                    <a:lstStyle/>
                    <a:p>
                      <a:r>
                        <a:rPr lang="en-US" dirty="0"/>
                        <a:t>                52</a:t>
                      </a:r>
                    </a:p>
                  </a:txBody>
                  <a:tcPr/>
                </a:tc>
                <a:extLst>
                  <a:ext uri="{0D108BD9-81ED-4DB2-BD59-A6C34878D82A}">
                    <a16:rowId xmlns:a16="http://schemas.microsoft.com/office/drawing/2014/main" val="3539986272"/>
                  </a:ext>
                </a:extLst>
              </a:tr>
              <a:tr h="117550">
                <a:tc>
                  <a:txBody>
                    <a:bodyPr/>
                    <a:lstStyle/>
                    <a:p>
                      <a:r>
                        <a:rPr lang="en-US" dirty="0"/>
                        <a:t>           4)</a:t>
                      </a:r>
                    </a:p>
                  </a:txBody>
                  <a:tcPr/>
                </a:tc>
                <a:tc>
                  <a:txBody>
                    <a:bodyPr/>
                    <a:lstStyle/>
                    <a:p>
                      <a:r>
                        <a:rPr lang="en-US" dirty="0"/>
                        <a:t>Pruthviraj Banoshi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02FE22BEC058</a:t>
                      </a:r>
                    </a:p>
                  </a:txBody>
                  <a:tcPr/>
                </a:tc>
                <a:tc>
                  <a:txBody>
                    <a:bodyPr/>
                    <a:lstStyle/>
                    <a:p>
                      <a:r>
                        <a:rPr lang="en-US" dirty="0"/>
                        <a:t>                56</a:t>
                      </a:r>
                    </a:p>
                  </a:txBody>
                  <a:tcPr/>
                </a:tc>
                <a:extLst>
                  <a:ext uri="{0D108BD9-81ED-4DB2-BD59-A6C34878D82A}">
                    <a16:rowId xmlns:a16="http://schemas.microsoft.com/office/drawing/2014/main" val="2380186509"/>
                  </a:ext>
                </a:extLst>
              </a:tr>
            </a:tbl>
          </a:graphicData>
        </a:graphic>
      </p:graphicFrame>
      <p:pic>
        <p:nvPicPr>
          <p:cNvPr id="7" name="Picture 6">
            <a:extLst>
              <a:ext uri="{FF2B5EF4-FFF2-40B4-BE49-F238E27FC236}">
                <a16:creationId xmlns:a16="http://schemas.microsoft.com/office/drawing/2014/main" id="{A491FF6C-DE09-AE79-C274-D9169BC8DE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4203" y="127298"/>
            <a:ext cx="8803594" cy="1224464"/>
          </a:xfrm>
          <a:prstGeom prst="rect">
            <a:avLst/>
          </a:prstGeom>
        </p:spPr>
      </p:pic>
      <p:sp>
        <p:nvSpPr>
          <p:cNvPr id="4" name="TextBox 3">
            <a:extLst>
              <a:ext uri="{FF2B5EF4-FFF2-40B4-BE49-F238E27FC236}">
                <a16:creationId xmlns:a16="http://schemas.microsoft.com/office/drawing/2014/main" id="{8F45F076-347B-A1CE-27B9-1B46C7B6F4ED}"/>
              </a:ext>
            </a:extLst>
          </p:cNvPr>
          <p:cNvSpPr txBox="1"/>
          <p:nvPr/>
        </p:nvSpPr>
        <p:spPr>
          <a:xfrm>
            <a:off x="2093386" y="1638488"/>
            <a:ext cx="8005227" cy="400110"/>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Department of Electronics and Communication Engineering</a:t>
            </a:r>
            <a:endParaRPr lang="en-IN" sz="2000" dirty="0"/>
          </a:p>
        </p:txBody>
      </p:sp>
    </p:spTree>
    <p:extLst>
      <p:ext uri="{BB962C8B-B14F-4D97-AF65-F5344CB8AC3E}">
        <p14:creationId xmlns:p14="http://schemas.microsoft.com/office/powerpoint/2010/main" val="4293672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2CB22-6596-D719-0B2C-D2069E31DD08}"/>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Problem Statement :</a:t>
            </a:r>
          </a:p>
        </p:txBody>
      </p:sp>
      <p:sp>
        <p:nvSpPr>
          <p:cNvPr id="3" name="TextBox 2">
            <a:extLst>
              <a:ext uri="{FF2B5EF4-FFF2-40B4-BE49-F238E27FC236}">
                <a16:creationId xmlns:a16="http://schemas.microsoft.com/office/drawing/2014/main" id="{E15F8699-F922-D478-D227-4E997DEC3EBF}"/>
              </a:ext>
            </a:extLst>
          </p:cNvPr>
          <p:cNvSpPr txBox="1"/>
          <p:nvPr/>
        </p:nvSpPr>
        <p:spPr>
          <a:xfrm>
            <a:off x="621792" y="1847088"/>
            <a:ext cx="9171432" cy="1200329"/>
          </a:xfrm>
          <a:prstGeom prst="rect">
            <a:avLst/>
          </a:prstGeom>
          <a:noFill/>
        </p:spPr>
        <p:txBody>
          <a:bodyPr wrap="square" rtlCol="0">
            <a:spAutoFit/>
          </a:bodyPr>
          <a:lstStyle/>
          <a:p>
            <a:pPr algn="just"/>
            <a:r>
              <a:rPr lang="en-IN" sz="2400" dirty="0">
                <a:latin typeface="Times New Roman" panose="02020603050405020304" pitchFamily="18" charset="0"/>
                <a:cs typeface="Times New Roman" panose="02020603050405020304" pitchFamily="18" charset="0"/>
              </a:rPr>
              <a:t>Develop an automatic seed sowing and spraying agriculture robot to enhance efficiency , reduce labour dependency , and ensure precise seed placement for smart farming</a:t>
            </a:r>
            <a:endParaRPr lang="en-IN" sz="2400" dirty="0"/>
          </a:p>
        </p:txBody>
      </p:sp>
    </p:spTree>
    <p:extLst>
      <p:ext uri="{BB962C8B-B14F-4D97-AF65-F5344CB8AC3E}">
        <p14:creationId xmlns:p14="http://schemas.microsoft.com/office/powerpoint/2010/main" val="4287823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336CE6A3-F02C-416A-A354-959838384F8B}"/>
              </a:ext>
            </a:extLst>
          </p:cNvPr>
          <p:cNvPicPr>
            <a:picLocks noGrp="1" noChangeAspect="1"/>
          </p:cNvPicPr>
          <p:nvPr>
            <p:ph idx="1"/>
          </p:nvPr>
        </p:nvPicPr>
        <p:blipFill>
          <a:blip r:embed="rId2"/>
          <a:stretch>
            <a:fillRect/>
          </a:stretch>
        </p:blipFill>
        <p:spPr>
          <a:xfrm>
            <a:off x="861060" y="726948"/>
            <a:ext cx="10469880" cy="5404103"/>
          </a:xfrm>
          <a:prstGeom prst="rect">
            <a:avLst/>
          </a:prstGeom>
        </p:spPr>
      </p:pic>
      <p:sp>
        <p:nvSpPr>
          <p:cNvPr id="11" name="TextBox 10">
            <a:extLst>
              <a:ext uri="{FF2B5EF4-FFF2-40B4-BE49-F238E27FC236}">
                <a16:creationId xmlns:a16="http://schemas.microsoft.com/office/drawing/2014/main" id="{0E8B52A0-89DF-BEA5-9347-669A17255F8B}"/>
              </a:ext>
            </a:extLst>
          </p:cNvPr>
          <p:cNvSpPr txBox="1"/>
          <p:nvPr/>
        </p:nvSpPr>
        <p:spPr>
          <a:xfrm>
            <a:off x="4399446" y="813816"/>
            <a:ext cx="3393108" cy="646331"/>
          </a:xfrm>
          <a:prstGeom prst="rect">
            <a:avLst/>
          </a:prstGeom>
          <a:noFill/>
        </p:spPr>
        <p:txBody>
          <a:bodyPr wrap="none" rtlCol="0">
            <a:spAutoFit/>
          </a:bodyPr>
          <a:lstStyle/>
          <a:p>
            <a:r>
              <a:rPr lang="en-IN" sz="3600" dirty="0">
                <a:latin typeface="Times New Roman" panose="02020603050405020304" pitchFamily="18" charset="0"/>
                <a:cs typeface="Times New Roman" panose="02020603050405020304" pitchFamily="18" charset="0"/>
              </a:rPr>
              <a:t>GANTT CHART</a:t>
            </a:r>
          </a:p>
        </p:txBody>
      </p:sp>
    </p:spTree>
    <p:extLst>
      <p:ext uri="{BB962C8B-B14F-4D97-AF65-F5344CB8AC3E}">
        <p14:creationId xmlns:p14="http://schemas.microsoft.com/office/powerpoint/2010/main" val="2796543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593922-22FF-4490-AC10-FC138D33BCF4}"/>
              </a:ext>
            </a:extLst>
          </p:cNvPr>
          <p:cNvSpPr txBox="1"/>
          <p:nvPr/>
        </p:nvSpPr>
        <p:spPr>
          <a:xfrm>
            <a:off x="512064" y="356616"/>
            <a:ext cx="7263270" cy="769441"/>
          </a:xfrm>
          <a:prstGeom prst="rect">
            <a:avLst/>
          </a:prstGeom>
          <a:noFill/>
        </p:spPr>
        <p:txBody>
          <a:bodyPr wrap="none" rtlCol="0">
            <a:spAutoFit/>
          </a:bodyPr>
          <a:lstStyle/>
          <a:p>
            <a:r>
              <a:rPr lang="en-IN" sz="4400" b="1" dirty="0">
                <a:latin typeface="Times New Roman" panose="02020603050405020304" pitchFamily="18" charset="0"/>
                <a:cs typeface="Times New Roman" panose="02020603050405020304" pitchFamily="18" charset="0"/>
              </a:rPr>
              <a:t>Work Breakdown Structure :</a:t>
            </a:r>
          </a:p>
        </p:txBody>
      </p:sp>
      <p:pic>
        <p:nvPicPr>
          <p:cNvPr id="17" name="Picture 16">
            <a:extLst>
              <a:ext uri="{FF2B5EF4-FFF2-40B4-BE49-F238E27FC236}">
                <a16:creationId xmlns:a16="http://schemas.microsoft.com/office/drawing/2014/main" id="{DD746CAC-5048-4B96-6D73-724DAC4DB520}"/>
              </a:ext>
            </a:extLst>
          </p:cNvPr>
          <p:cNvPicPr>
            <a:picLocks noChangeAspect="1"/>
          </p:cNvPicPr>
          <p:nvPr/>
        </p:nvPicPr>
        <p:blipFill>
          <a:blip r:embed="rId2"/>
          <a:stretch>
            <a:fillRect/>
          </a:stretch>
        </p:blipFill>
        <p:spPr>
          <a:xfrm>
            <a:off x="1792986" y="1197864"/>
            <a:ext cx="8459724" cy="5303520"/>
          </a:xfrm>
          <a:prstGeom prst="rect">
            <a:avLst/>
          </a:prstGeom>
        </p:spPr>
      </p:pic>
      <p:cxnSp>
        <p:nvCxnSpPr>
          <p:cNvPr id="4" name="Straight Connector 3">
            <a:extLst>
              <a:ext uri="{FF2B5EF4-FFF2-40B4-BE49-F238E27FC236}">
                <a16:creationId xmlns:a16="http://schemas.microsoft.com/office/drawing/2014/main" id="{F441D6FA-5F74-79CB-39A0-15879DDD96E1}"/>
              </a:ext>
            </a:extLst>
          </p:cNvPr>
          <p:cNvCxnSpPr>
            <a:cxnSpLocks/>
          </p:cNvCxnSpPr>
          <p:nvPr/>
        </p:nvCxnSpPr>
        <p:spPr>
          <a:xfrm>
            <a:off x="4700016" y="4544568"/>
            <a:ext cx="0" cy="219456"/>
          </a:xfrm>
          <a:prstGeom prst="line">
            <a:avLst/>
          </a:prstGeom>
          <a:ln w="28575">
            <a:solidFill>
              <a:srgbClr val="17425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72185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C76DA-DEE8-E21D-02F2-4D789C7897B6}"/>
              </a:ext>
            </a:extLst>
          </p:cNvPr>
          <p:cNvSpPr>
            <a:spLocks noGrp="1"/>
          </p:cNvSpPr>
          <p:nvPr>
            <p:ph type="title"/>
          </p:nvPr>
        </p:nvSpPr>
        <p:spPr>
          <a:xfrm>
            <a:off x="599209" y="157307"/>
            <a:ext cx="10515600" cy="1091390"/>
          </a:xfrm>
        </p:spPr>
        <p:txBody>
          <a:bodyPr>
            <a:normAutofit/>
          </a:bodyPr>
          <a:lstStyle/>
          <a:p>
            <a:r>
              <a:rPr lang="en-US" b="1" dirty="0">
                <a:latin typeface="Times New Roman" panose="02020603050405020304" pitchFamily="18" charset="0"/>
                <a:cs typeface="Times New Roman" panose="02020603050405020304" pitchFamily="18" charset="0"/>
              </a:rPr>
              <a:t>Specification :</a:t>
            </a:r>
          </a:p>
        </p:txBody>
      </p:sp>
      <p:sp>
        <p:nvSpPr>
          <p:cNvPr id="3" name="Content Placeholder 2">
            <a:extLst>
              <a:ext uri="{FF2B5EF4-FFF2-40B4-BE49-F238E27FC236}">
                <a16:creationId xmlns:a16="http://schemas.microsoft.com/office/drawing/2014/main" id="{ECF16E69-4733-B1BB-CB76-540CC926FDA7}"/>
              </a:ext>
            </a:extLst>
          </p:cNvPr>
          <p:cNvSpPr>
            <a:spLocks noGrp="1"/>
          </p:cNvSpPr>
          <p:nvPr>
            <p:ph idx="1"/>
          </p:nvPr>
        </p:nvSpPr>
        <p:spPr>
          <a:xfrm>
            <a:off x="838200" y="967186"/>
            <a:ext cx="10515600" cy="5127481"/>
          </a:xfrm>
        </p:spPr>
        <p:txBody>
          <a:bodyPr>
            <a:normAutofit/>
          </a:bodyPr>
          <a:lstStyle/>
          <a:p>
            <a:pPr marL="0" indent="0">
              <a:buNone/>
            </a:pPr>
            <a:endParaRPr lang="en-US" sz="2400" b="1"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Microcontroller: Arduino Mega</a:t>
            </a:r>
          </a:p>
          <a:p>
            <a:pPr marL="0" indent="0">
              <a:buNone/>
            </a:pPr>
            <a:r>
              <a:rPr lang="en-US" sz="2400" dirty="0">
                <a:latin typeface="Times New Roman" panose="02020603050405020304" pitchFamily="18" charset="0"/>
                <a:cs typeface="Times New Roman" panose="02020603050405020304" pitchFamily="18" charset="0"/>
              </a:rPr>
              <a:t>Chassis:  4-wheel platform</a:t>
            </a:r>
          </a:p>
          <a:p>
            <a:pPr marL="0" indent="0">
              <a:buNone/>
            </a:pPr>
            <a:r>
              <a:rPr lang="en-US" sz="2400" dirty="0">
                <a:latin typeface="Times New Roman" panose="02020603050405020304" pitchFamily="18" charset="0"/>
                <a:cs typeface="Times New Roman" panose="02020603050405020304" pitchFamily="18" charset="0"/>
              </a:rPr>
              <a:t>Motors: DC Motors (</a:t>
            </a:r>
            <a:r>
              <a:rPr lang="en-US" sz="2000" dirty="0">
                <a:latin typeface="Times New Roman" panose="02020603050405020304" pitchFamily="18" charset="0"/>
                <a:cs typeface="Times New Roman" panose="02020603050405020304" pitchFamily="18" charset="0"/>
              </a:rPr>
              <a:t>150 RPM</a:t>
            </a:r>
            <a:r>
              <a:rPr lang="en-US" sz="2400" dirty="0">
                <a:latin typeface="Times New Roman" panose="02020603050405020304" pitchFamily="18" charset="0"/>
                <a:cs typeface="Times New Roman" panose="02020603050405020304" pitchFamily="18" charset="0"/>
              </a:rPr>
              <a:t>) with L298N driver</a:t>
            </a:r>
          </a:p>
          <a:p>
            <a:pPr marL="0" indent="0">
              <a:buNone/>
            </a:pPr>
            <a:r>
              <a:rPr lang="en-US" sz="2400" dirty="0">
                <a:latin typeface="Times New Roman" panose="02020603050405020304" pitchFamily="18" charset="0"/>
                <a:cs typeface="Times New Roman" panose="02020603050405020304" pitchFamily="18" charset="0"/>
              </a:rPr>
              <a:t>Seed Mechanism: Servo-controlled dropper</a:t>
            </a:r>
          </a:p>
          <a:p>
            <a:pPr marL="0" indent="0">
              <a:buNone/>
            </a:pPr>
            <a:r>
              <a:rPr lang="en-US" sz="2400" dirty="0">
                <a:latin typeface="Times New Roman" panose="02020603050405020304" pitchFamily="18" charset="0"/>
                <a:cs typeface="Times New Roman" panose="02020603050405020304" pitchFamily="18" charset="0"/>
              </a:rPr>
              <a:t>Power Supply: 14.8V Li-ion </a:t>
            </a:r>
          </a:p>
          <a:p>
            <a:pPr marL="0" indent="0">
              <a:buNone/>
            </a:pPr>
            <a:r>
              <a:rPr lang="en-US" sz="2400" dirty="0">
                <a:latin typeface="Times New Roman" panose="02020603050405020304" pitchFamily="18" charset="0"/>
                <a:cs typeface="Times New Roman" panose="02020603050405020304" pitchFamily="18" charset="0"/>
              </a:rPr>
              <a:t>Battery Speed: 0.5 m/s (adjustable)</a:t>
            </a:r>
          </a:p>
          <a:p>
            <a:pPr marL="0" indent="0">
              <a:buNone/>
            </a:pPr>
            <a:r>
              <a:rPr lang="en-US" sz="2400" dirty="0">
                <a:latin typeface="Times New Roman" panose="02020603050405020304" pitchFamily="18" charset="0"/>
                <a:cs typeface="Times New Roman" panose="02020603050405020304" pitchFamily="18" charset="0"/>
              </a:rPr>
              <a:t>Seeding Interval: Configurable (e.g., every 10–20 cm)</a:t>
            </a:r>
          </a:p>
          <a:p>
            <a:pPr marL="0" indent="0">
              <a:buNone/>
            </a:pPr>
            <a:r>
              <a:rPr lang="en-US" sz="2400" dirty="0">
                <a:latin typeface="Times New Roman" panose="02020603050405020304" pitchFamily="18" charset="0"/>
                <a:cs typeface="Times New Roman" panose="02020603050405020304" pitchFamily="18" charset="0"/>
              </a:rPr>
              <a:t>Field Suitability: Small experimental plots</a:t>
            </a:r>
          </a:p>
        </p:txBody>
      </p:sp>
    </p:spTree>
    <p:extLst>
      <p:ext uri="{BB962C8B-B14F-4D97-AF65-F5344CB8AC3E}">
        <p14:creationId xmlns:p14="http://schemas.microsoft.com/office/powerpoint/2010/main" val="2700962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B076F-67EC-02AC-9718-58FB28AADFF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Identification :</a:t>
            </a:r>
            <a:endParaRPr lang="en-IN" b="1"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A07C4CFA-4329-8436-0695-ED8D07939A2D}"/>
              </a:ext>
            </a:extLst>
          </p:cNvPr>
          <p:cNvGraphicFramePr>
            <a:graphicFrameLocks noGrp="1"/>
          </p:cNvGraphicFramePr>
          <p:nvPr>
            <p:extLst>
              <p:ext uri="{D42A27DB-BD31-4B8C-83A1-F6EECF244321}">
                <p14:modId xmlns:p14="http://schemas.microsoft.com/office/powerpoint/2010/main" val="3192189237"/>
              </p:ext>
            </p:extLst>
          </p:nvPr>
        </p:nvGraphicFramePr>
        <p:xfrm>
          <a:off x="838200" y="1872488"/>
          <a:ext cx="10515600" cy="3870960"/>
        </p:xfrm>
        <a:graphic>
          <a:graphicData uri="http://schemas.openxmlformats.org/drawingml/2006/table">
            <a:tbl>
              <a:tblPr/>
              <a:tblGrid>
                <a:gridCol w="5257800">
                  <a:extLst>
                    <a:ext uri="{9D8B030D-6E8A-4147-A177-3AD203B41FA5}">
                      <a16:colId xmlns:a16="http://schemas.microsoft.com/office/drawing/2014/main" val="2297717123"/>
                    </a:ext>
                  </a:extLst>
                </a:gridCol>
                <a:gridCol w="5257800">
                  <a:extLst>
                    <a:ext uri="{9D8B030D-6E8A-4147-A177-3AD203B41FA5}">
                      <a16:colId xmlns:a16="http://schemas.microsoft.com/office/drawing/2014/main" val="2364824559"/>
                    </a:ext>
                  </a:extLst>
                </a:gridCol>
              </a:tblGrid>
              <a:tr h="774192">
                <a:tc>
                  <a:txBody>
                    <a:bodyPr/>
                    <a:lstStyle/>
                    <a:p>
                      <a:r>
                        <a:rPr lang="en-IN" sz="2400" b="1" dirty="0">
                          <a:latin typeface="Times New Roman" panose="02020603050405020304" pitchFamily="18" charset="0"/>
                          <a:cs typeface="Times New Roman" panose="02020603050405020304" pitchFamily="18" charset="0"/>
                        </a:rPr>
                        <a:t>Input</a:t>
                      </a:r>
                      <a:endParaRPr lang="en-IN" sz="24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r>
                        <a:rPr lang="en-IN" sz="2400" b="1" dirty="0">
                          <a:latin typeface="Times New Roman" panose="02020603050405020304" pitchFamily="18" charset="0"/>
                          <a:cs typeface="Times New Roman" panose="02020603050405020304" pitchFamily="18" charset="0"/>
                        </a:rPr>
                        <a:t>Output</a:t>
                      </a:r>
                      <a:endParaRPr lang="en-IN" sz="24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2074432003"/>
                  </a:ext>
                </a:extLst>
              </a:tr>
              <a:tr h="774192">
                <a:tc>
                  <a:txBody>
                    <a:bodyPr/>
                    <a:lstStyle/>
                    <a:p>
                      <a:r>
                        <a:rPr lang="en-IN" sz="2400" dirty="0">
                          <a:latin typeface="Times New Roman" panose="02020603050405020304" pitchFamily="18" charset="0"/>
                          <a:cs typeface="Times New Roman" panose="02020603050405020304" pitchFamily="18" charset="0"/>
                        </a:rPr>
                        <a:t>Arduino code, sensor readings</a:t>
                      </a:r>
                    </a:p>
                  </a:txBody>
                  <a:tcPr anchor="ctr">
                    <a:lnL>
                      <a:noFill/>
                    </a:lnL>
                    <a:lnR>
                      <a:noFill/>
                    </a:lnR>
                    <a:lnT>
                      <a:noFill/>
                    </a:lnT>
                    <a:lnB>
                      <a:noFill/>
                    </a:lnB>
                    <a:noFill/>
                  </a:tcPr>
                </a:tc>
                <a:tc>
                  <a:txBody>
                    <a:bodyPr/>
                    <a:lstStyle/>
                    <a:p>
                      <a:r>
                        <a:rPr lang="en-IN" sz="2400">
                          <a:latin typeface="Times New Roman" panose="02020603050405020304" pitchFamily="18" charset="0"/>
                          <a:cs typeface="Times New Roman" panose="02020603050405020304" pitchFamily="18" charset="0"/>
                        </a:rPr>
                        <a:t>Motor movement, seed dispensing</a:t>
                      </a:r>
                    </a:p>
                  </a:txBody>
                  <a:tcPr anchor="ctr">
                    <a:lnL>
                      <a:noFill/>
                    </a:lnL>
                    <a:lnR>
                      <a:noFill/>
                    </a:lnR>
                    <a:lnT>
                      <a:noFill/>
                    </a:lnT>
                    <a:lnB>
                      <a:noFill/>
                    </a:lnB>
                    <a:noFill/>
                  </a:tcPr>
                </a:tc>
                <a:extLst>
                  <a:ext uri="{0D108BD9-81ED-4DB2-BD59-A6C34878D82A}">
                    <a16:rowId xmlns:a16="http://schemas.microsoft.com/office/drawing/2014/main" val="3142285777"/>
                  </a:ext>
                </a:extLst>
              </a:tr>
              <a:tr h="774192">
                <a:tc>
                  <a:txBody>
                    <a:bodyPr/>
                    <a:lstStyle/>
                    <a:p>
                      <a:r>
                        <a:rPr lang="en-IN" sz="2400" dirty="0">
                          <a:latin typeface="Times New Roman" panose="02020603050405020304" pitchFamily="18" charset="0"/>
                          <a:cs typeface="Times New Roman" panose="02020603050405020304" pitchFamily="18" charset="0"/>
                        </a:rPr>
                        <a:t>Software Bluetooth APK</a:t>
                      </a:r>
                    </a:p>
                  </a:txBody>
                  <a:tcPr anchor="ctr">
                    <a:lnL>
                      <a:noFill/>
                    </a:lnL>
                    <a:lnR>
                      <a:noFill/>
                    </a:lnR>
                    <a:lnT>
                      <a:noFill/>
                    </a:lnT>
                    <a:lnB>
                      <a:noFill/>
                    </a:lnB>
                    <a:noFill/>
                  </a:tcPr>
                </a:tc>
                <a:tc>
                  <a:txBody>
                    <a:bodyPr/>
                    <a:lstStyle/>
                    <a:p>
                      <a:r>
                        <a:rPr lang="en-IN" sz="2400" dirty="0">
                          <a:latin typeface="Times New Roman" panose="02020603050405020304" pitchFamily="18" charset="0"/>
                          <a:cs typeface="Times New Roman" panose="02020603050405020304" pitchFamily="18" charset="0"/>
                        </a:rPr>
                        <a:t>Navigation control</a:t>
                      </a:r>
                    </a:p>
                  </a:txBody>
                  <a:tcPr anchor="ctr">
                    <a:lnL>
                      <a:noFill/>
                    </a:lnL>
                    <a:lnR>
                      <a:noFill/>
                    </a:lnR>
                    <a:lnT>
                      <a:noFill/>
                    </a:lnT>
                    <a:lnB>
                      <a:noFill/>
                    </a:lnB>
                    <a:noFill/>
                  </a:tcPr>
                </a:tc>
                <a:extLst>
                  <a:ext uri="{0D108BD9-81ED-4DB2-BD59-A6C34878D82A}">
                    <a16:rowId xmlns:a16="http://schemas.microsoft.com/office/drawing/2014/main" val="3704300470"/>
                  </a:ext>
                </a:extLst>
              </a:tr>
              <a:tr h="774192">
                <a:tc>
                  <a:txBody>
                    <a:bodyPr/>
                    <a:lstStyle/>
                    <a:p>
                      <a:r>
                        <a:rPr lang="en-IN" sz="2400">
                          <a:latin typeface="Times New Roman" panose="02020603050405020304" pitchFamily="18" charset="0"/>
                          <a:cs typeface="Times New Roman" panose="02020603050405020304" pitchFamily="18" charset="0"/>
                        </a:rPr>
                        <a:t>Battery power</a:t>
                      </a:r>
                    </a:p>
                  </a:txBody>
                  <a:tcPr anchor="ctr">
                    <a:lnL>
                      <a:noFill/>
                    </a:lnL>
                    <a:lnR>
                      <a:noFill/>
                    </a:lnR>
                    <a:lnT>
                      <a:noFill/>
                    </a:lnT>
                    <a:lnB>
                      <a:noFill/>
                    </a:lnB>
                    <a:noFill/>
                  </a:tcPr>
                </a:tc>
                <a:tc>
                  <a:txBody>
                    <a:bodyPr/>
                    <a:lstStyle/>
                    <a:p>
                      <a:r>
                        <a:rPr lang="en-US" sz="2400">
                          <a:latin typeface="Times New Roman" panose="02020603050405020304" pitchFamily="18" charset="0"/>
                          <a:cs typeface="Times New Roman" panose="02020603050405020304" pitchFamily="18" charset="0"/>
                        </a:rPr>
                        <a:t>Operation of motors and sensors</a:t>
                      </a:r>
                    </a:p>
                  </a:txBody>
                  <a:tcPr anchor="ctr">
                    <a:lnL>
                      <a:noFill/>
                    </a:lnL>
                    <a:lnR>
                      <a:noFill/>
                    </a:lnR>
                    <a:lnT>
                      <a:noFill/>
                    </a:lnT>
                    <a:lnB>
                      <a:noFill/>
                    </a:lnB>
                    <a:noFill/>
                  </a:tcPr>
                </a:tc>
                <a:extLst>
                  <a:ext uri="{0D108BD9-81ED-4DB2-BD59-A6C34878D82A}">
                    <a16:rowId xmlns:a16="http://schemas.microsoft.com/office/drawing/2014/main" val="1151701688"/>
                  </a:ext>
                </a:extLst>
              </a:tr>
              <a:tr h="774192">
                <a:tc>
                  <a:txBody>
                    <a:bodyPr/>
                    <a:lstStyle/>
                    <a:p>
                      <a:r>
                        <a:rPr lang="en-IN" sz="2400">
                          <a:latin typeface="Times New Roman" panose="02020603050405020304" pitchFamily="18" charset="0"/>
                          <a:cs typeface="Times New Roman" panose="02020603050405020304" pitchFamily="18" charset="0"/>
                        </a:rPr>
                        <a:t>Seed hopper filled</a:t>
                      </a:r>
                    </a:p>
                  </a:txBody>
                  <a:tcPr anchor="ctr">
                    <a:lnL>
                      <a:noFill/>
                    </a:lnL>
                    <a:lnR>
                      <a:noFill/>
                    </a:lnR>
                    <a:lnT>
                      <a:noFill/>
                    </a:lnT>
                    <a:lnB>
                      <a:noFill/>
                    </a:lnB>
                    <a:noFill/>
                  </a:tcPr>
                </a:tc>
                <a:tc>
                  <a:txBody>
                    <a:bodyPr/>
                    <a:lstStyle/>
                    <a:p>
                      <a:r>
                        <a:rPr lang="en-US" sz="2400" dirty="0">
                          <a:latin typeface="Times New Roman" panose="02020603050405020304" pitchFamily="18" charset="0"/>
                          <a:cs typeface="Times New Roman" panose="02020603050405020304" pitchFamily="18" charset="0"/>
                        </a:rPr>
                        <a:t>Timed seed drops at intervals</a:t>
                      </a:r>
                    </a:p>
                  </a:txBody>
                  <a:tcPr anchor="ctr">
                    <a:lnL>
                      <a:noFill/>
                    </a:lnL>
                    <a:lnR>
                      <a:noFill/>
                    </a:lnR>
                    <a:lnT>
                      <a:noFill/>
                    </a:lnT>
                    <a:lnB>
                      <a:noFill/>
                    </a:lnB>
                    <a:noFill/>
                  </a:tcPr>
                </a:tc>
                <a:extLst>
                  <a:ext uri="{0D108BD9-81ED-4DB2-BD59-A6C34878D82A}">
                    <a16:rowId xmlns:a16="http://schemas.microsoft.com/office/drawing/2014/main" val="2444619227"/>
                  </a:ext>
                </a:extLst>
              </a:tr>
            </a:tbl>
          </a:graphicData>
        </a:graphic>
      </p:graphicFrame>
    </p:spTree>
    <p:extLst>
      <p:ext uri="{BB962C8B-B14F-4D97-AF65-F5344CB8AC3E}">
        <p14:creationId xmlns:p14="http://schemas.microsoft.com/office/powerpoint/2010/main" val="999357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9DC71-DD22-32A9-E60E-82793371301A}"/>
              </a:ext>
            </a:extLst>
          </p:cNvPr>
          <p:cNvSpPr>
            <a:spLocks noGrp="1"/>
          </p:cNvSpPr>
          <p:nvPr>
            <p:ph type="title"/>
          </p:nvPr>
        </p:nvSpPr>
        <p:spPr>
          <a:xfrm>
            <a:off x="216408" y="-167485"/>
            <a:ext cx="10515600" cy="1325563"/>
          </a:xfrm>
        </p:spPr>
        <p:txBody>
          <a:bodyPr/>
          <a:lstStyle/>
          <a:p>
            <a:r>
              <a:rPr lang="en-IN" b="1" dirty="0">
                <a:latin typeface="Times New Roman" panose="02020603050405020304" pitchFamily="18" charset="0"/>
                <a:cs typeface="Times New Roman" panose="02020603050405020304" pitchFamily="18" charset="0"/>
              </a:rPr>
              <a:t>Functional Block Diagram :</a:t>
            </a:r>
          </a:p>
        </p:txBody>
      </p:sp>
      <p:sp>
        <p:nvSpPr>
          <p:cNvPr id="3" name="Rectangle: Rounded Corners 2">
            <a:extLst>
              <a:ext uri="{FF2B5EF4-FFF2-40B4-BE49-F238E27FC236}">
                <a16:creationId xmlns:a16="http://schemas.microsoft.com/office/drawing/2014/main" id="{18EA2251-C258-B0B1-36FE-C03C93EBFC2A}"/>
              </a:ext>
            </a:extLst>
          </p:cNvPr>
          <p:cNvSpPr/>
          <p:nvPr/>
        </p:nvSpPr>
        <p:spPr>
          <a:xfrm>
            <a:off x="4535424" y="1097280"/>
            <a:ext cx="2345292" cy="79552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dirty="0"/>
              <a:t>Power Supply</a:t>
            </a:r>
          </a:p>
          <a:p>
            <a:pPr algn="ctr"/>
            <a:r>
              <a:rPr lang="en-IN" sz="1100" dirty="0"/>
              <a:t>(14.8V DC supply for motors,5V regulated output for Arduino and Bluetooth)  </a:t>
            </a:r>
          </a:p>
        </p:txBody>
      </p:sp>
      <p:pic>
        <p:nvPicPr>
          <p:cNvPr id="6" name="Picture 5">
            <a:extLst>
              <a:ext uri="{FF2B5EF4-FFF2-40B4-BE49-F238E27FC236}">
                <a16:creationId xmlns:a16="http://schemas.microsoft.com/office/drawing/2014/main" id="{62D16FE2-5F73-528C-B106-17461B087BF0}"/>
              </a:ext>
            </a:extLst>
          </p:cNvPr>
          <p:cNvPicPr>
            <a:picLocks noChangeAspect="1"/>
          </p:cNvPicPr>
          <p:nvPr/>
        </p:nvPicPr>
        <p:blipFill>
          <a:blip r:embed="rId2"/>
          <a:stretch>
            <a:fillRect/>
          </a:stretch>
        </p:blipFill>
        <p:spPr>
          <a:xfrm>
            <a:off x="4522992" y="2320246"/>
            <a:ext cx="2357724" cy="804742"/>
          </a:xfrm>
          <a:prstGeom prst="rect">
            <a:avLst/>
          </a:prstGeom>
        </p:spPr>
      </p:pic>
      <p:pic>
        <p:nvPicPr>
          <p:cNvPr id="7" name="Picture 6">
            <a:extLst>
              <a:ext uri="{FF2B5EF4-FFF2-40B4-BE49-F238E27FC236}">
                <a16:creationId xmlns:a16="http://schemas.microsoft.com/office/drawing/2014/main" id="{139502E3-525C-5053-79FF-53F4C1FD69B6}"/>
              </a:ext>
            </a:extLst>
          </p:cNvPr>
          <p:cNvPicPr>
            <a:picLocks noChangeAspect="1"/>
          </p:cNvPicPr>
          <p:nvPr/>
        </p:nvPicPr>
        <p:blipFill>
          <a:blip r:embed="rId2"/>
          <a:stretch>
            <a:fillRect/>
          </a:stretch>
        </p:blipFill>
        <p:spPr>
          <a:xfrm>
            <a:off x="4424282" y="3593840"/>
            <a:ext cx="2471818" cy="804742"/>
          </a:xfrm>
          <a:prstGeom prst="rect">
            <a:avLst/>
          </a:prstGeom>
        </p:spPr>
      </p:pic>
      <p:pic>
        <p:nvPicPr>
          <p:cNvPr id="11" name="Picture 10">
            <a:extLst>
              <a:ext uri="{FF2B5EF4-FFF2-40B4-BE49-F238E27FC236}">
                <a16:creationId xmlns:a16="http://schemas.microsoft.com/office/drawing/2014/main" id="{56564255-6021-FACA-7E8F-AB7F1AA723DA}"/>
              </a:ext>
            </a:extLst>
          </p:cNvPr>
          <p:cNvPicPr>
            <a:picLocks noChangeAspect="1"/>
          </p:cNvPicPr>
          <p:nvPr/>
        </p:nvPicPr>
        <p:blipFill>
          <a:blip r:embed="rId2"/>
          <a:stretch>
            <a:fillRect/>
          </a:stretch>
        </p:blipFill>
        <p:spPr>
          <a:xfrm>
            <a:off x="1990703" y="3590472"/>
            <a:ext cx="2219136" cy="804742"/>
          </a:xfrm>
          <a:prstGeom prst="rect">
            <a:avLst/>
          </a:prstGeom>
        </p:spPr>
      </p:pic>
      <p:pic>
        <p:nvPicPr>
          <p:cNvPr id="13" name="Picture 12">
            <a:extLst>
              <a:ext uri="{FF2B5EF4-FFF2-40B4-BE49-F238E27FC236}">
                <a16:creationId xmlns:a16="http://schemas.microsoft.com/office/drawing/2014/main" id="{21F15F21-9BA1-6D61-3E53-E322976BABDE}"/>
              </a:ext>
            </a:extLst>
          </p:cNvPr>
          <p:cNvPicPr>
            <a:picLocks noChangeAspect="1"/>
          </p:cNvPicPr>
          <p:nvPr/>
        </p:nvPicPr>
        <p:blipFill>
          <a:blip r:embed="rId2"/>
          <a:stretch>
            <a:fillRect/>
          </a:stretch>
        </p:blipFill>
        <p:spPr>
          <a:xfrm>
            <a:off x="9475944" y="3684752"/>
            <a:ext cx="2219136" cy="804742"/>
          </a:xfrm>
          <a:prstGeom prst="rect">
            <a:avLst/>
          </a:prstGeom>
        </p:spPr>
      </p:pic>
      <p:pic>
        <p:nvPicPr>
          <p:cNvPr id="14" name="Picture 13">
            <a:extLst>
              <a:ext uri="{FF2B5EF4-FFF2-40B4-BE49-F238E27FC236}">
                <a16:creationId xmlns:a16="http://schemas.microsoft.com/office/drawing/2014/main" id="{7BFCADB5-3B8C-AA9D-CF18-F41C69F50B42}"/>
              </a:ext>
            </a:extLst>
          </p:cNvPr>
          <p:cNvPicPr>
            <a:picLocks noChangeAspect="1"/>
          </p:cNvPicPr>
          <p:nvPr/>
        </p:nvPicPr>
        <p:blipFill>
          <a:blip r:embed="rId2"/>
          <a:stretch>
            <a:fillRect/>
          </a:stretch>
        </p:blipFill>
        <p:spPr>
          <a:xfrm>
            <a:off x="4192999" y="5457156"/>
            <a:ext cx="2219136" cy="804742"/>
          </a:xfrm>
          <a:prstGeom prst="rect">
            <a:avLst/>
          </a:prstGeom>
        </p:spPr>
      </p:pic>
      <p:pic>
        <p:nvPicPr>
          <p:cNvPr id="15" name="Picture 14">
            <a:extLst>
              <a:ext uri="{FF2B5EF4-FFF2-40B4-BE49-F238E27FC236}">
                <a16:creationId xmlns:a16="http://schemas.microsoft.com/office/drawing/2014/main" id="{9C9A8B3E-EAE0-A097-89D3-E03259C10AC7}"/>
              </a:ext>
            </a:extLst>
          </p:cNvPr>
          <p:cNvPicPr>
            <a:picLocks noChangeAspect="1"/>
          </p:cNvPicPr>
          <p:nvPr/>
        </p:nvPicPr>
        <p:blipFill>
          <a:blip r:embed="rId2"/>
          <a:stretch>
            <a:fillRect/>
          </a:stretch>
        </p:blipFill>
        <p:spPr>
          <a:xfrm>
            <a:off x="6763320" y="5480622"/>
            <a:ext cx="2219136" cy="804742"/>
          </a:xfrm>
          <a:prstGeom prst="rect">
            <a:avLst/>
          </a:prstGeom>
        </p:spPr>
      </p:pic>
      <p:pic>
        <p:nvPicPr>
          <p:cNvPr id="17" name="Picture 16">
            <a:extLst>
              <a:ext uri="{FF2B5EF4-FFF2-40B4-BE49-F238E27FC236}">
                <a16:creationId xmlns:a16="http://schemas.microsoft.com/office/drawing/2014/main" id="{03A15058-7184-8C2F-A755-FB956DA3BDF8}"/>
              </a:ext>
            </a:extLst>
          </p:cNvPr>
          <p:cNvPicPr>
            <a:picLocks noChangeAspect="1"/>
          </p:cNvPicPr>
          <p:nvPr/>
        </p:nvPicPr>
        <p:blipFill>
          <a:blip r:embed="rId2"/>
          <a:stretch>
            <a:fillRect/>
          </a:stretch>
        </p:blipFill>
        <p:spPr>
          <a:xfrm>
            <a:off x="9475944" y="5511023"/>
            <a:ext cx="2219136" cy="804742"/>
          </a:xfrm>
          <a:prstGeom prst="rect">
            <a:avLst/>
          </a:prstGeom>
        </p:spPr>
      </p:pic>
      <p:sp>
        <p:nvSpPr>
          <p:cNvPr id="18" name="TextBox 17">
            <a:extLst>
              <a:ext uri="{FF2B5EF4-FFF2-40B4-BE49-F238E27FC236}">
                <a16:creationId xmlns:a16="http://schemas.microsoft.com/office/drawing/2014/main" id="{AF4DB73A-F2D7-55E2-5AC5-E2B3F27938FA}"/>
              </a:ext>
            </a:extLst>
          </p:cNvPr>
          <p:cNvSpPr txBox="1"/>
          <p:nvPr/>
        </p:nvSpPr>
        <p:spPr>
          <a:xfrm>
            <a:off x="4454708" y="2377236"/>
            <a:ext cx="2488050" cy="707886"/>
          </a:xfrm>
          <a:prstGeom prst="rect">
            <a:avLst/>
          </a:prstGeom>
          <a:noFill/>
        </p:spPr>
        <p:txBody>
          <a:bodyPr wrap="square" rtlCol="0">
            <a:spAutoFit/>
          </a:bodyPr>
          <a:lstStyle/>
          <a:p>
            <a:r>
              <a:rPr lang="en-IN" dirty="0"/>
              <a:t>Arduino Mega 2560</a:t>
            </a:r>
          </a:p>
          <a:p>
            <a:r>
              <a:rPr lang="en-IN" sz="1100" dirty="0"/>
              <a:t>    (Main Controller)</a:t>
            </a:r>
          </a:p>
          <a:p>
            <a:pPr marL="171450" indent="-171450">
              <a:buFont typeface="Arial" panose="020B0604020202020204" pitchFamily="34" charset="0"/>
              <a:buChar char="•"/>
            </a:pPr>
            <a:r>
              <a:rPr lang="en-IN" sz="1100" dirty="0"/>
              <a:t>54 digital </a:t>
            </a:r>
            <a:r>
              <a:rPr lang="en-IN" sz="1100" dirty="0" err="1"/>
              <a:t>i</a:t>
            </a:r>
            <a:r>
              <a:rPr lang="en-IN" sz="1100" dirty="0"/>
              <a:t>/o pins, 16 Analog inputs</a:t>
            </a:r>
          </a:p>
        </p:txBody>
      </p:sp>
      <p:sp>
        <p:nvSpPr>
          <p:cNvPr id="19" name="TextBox 18">
            <a:extLst>
              <a:ext uri="{FF2B5EF4-FFF2-40B4-BE49-F238E27FC236}">
                <a16:creationId xmlns:a16="http://schemas.microsoft.com/office/drawing/2014/main" id="{45E7D8F8-6CD3-6B11-52A9-FD3194D86999}"/>
              </a:ext>
            </a:extLst>
          </p:cNvPr>
          <p:cNvSpPr txBox="1"/>
          <p:nvPr/>
        </p:nvSpPr>
        <p:spPr>
          <a:xfrm>
            <a:off x="4424283" y="3553782"/>
            <a:ext cx="2713506" cy="877163"/>
          </a:xfrm>
          <a:prstGeom prst="rect">
            <a:avLst/>
          </a:prstGeom>
          <a:noFill/>
        </p:spPr>
        <p:txBody>
          <a:bodyPr wrap="square" rtlCol="0">
            <a:spAutoFit/>
          </a:bodyPr>
          <a:lstStyle/>
          <a:p>
            <a:r>
              <a:rPr lang="en-IN" dirty="0"/>
              <a:t>HC-05 Bluetooth Module</a:t>
            </a:r>
          </a:p>
          <a:p>
            <a:pPr marL="285750" indent="-285750">
              <a:buFont typeface="Arial" panose="020B0604020202020204" pitchFamily="34" charset="0"/>
              <a:buChar char="•"/>
            </a:pPr>
            <a:r>
              <a:rPr lang="en-IN" sz="1100" dirty="0"/>
              <a:t>Communication : Serial UART</a:t>
            </a:r>
          </a:p>
          <a:p>
            <a:pPr marL="285750" indent="-285750">
              <a:buFont typeface="Arial" panose="020B0604020202020204" pitchFamily="34" charset="0"/>
              <a:buChar char="•"/>
            </a:pPr>
            <a:r>
              <a:rPr lang="en-IN" sz="1100" dirty="0"/>
              <a:t>Voltage:5V logic level</a:t>
            </a:r>
          </a:p>
          <a:p>
            <a:pPr marL="285750" indent="-285750">
              <a:buFont typeface="Arial" panose="020B0604020202020204" pitchFamily="34" charset="0"/>
              <a:buChar char="•"/>
            </a:pPr>
            <a:r>
              <a:rPr lang="en-IN" sz="1100" dirty="0"/>
              <a:t>Range: approx. 10 meters</a:t>
            </a:r>
          </a:p>
        </p:txBody>
      </p:sp>
      <p:sp>
        <p:nvSpPr>
          <p:cNvPr id="20" name="TextBox 19">
            <a:extLst>
              <a:ext uri="{FF2B5EF4-FFF2-40B4-BE49-F238E27FC236}">
                <a16:creationId xmlns:a16="http://schemas.microsoft.com/office/drawing/2014/main" id="{A09498BC-7788-156D-00D7-D515AF4C90D9}"/>
              </a:ext>
            </a:extLst>
          </p:cNvPr>
          <p:cNvSpPr txBox="1"/>
          <p:nvPr/>
        </p:nvSpPr>
        <p:spPr>
          <a:xfrm>
            <a:off x="1960129" y="3531651"/>
            <a:ext cx="2249709" cy="877163"/>
          </a:xfrm>
          <a:prstGeom prst="rect">
            <a:avLst/>
          </a:prstGeom>
          <a:noFill/>
        </p:spPr>
        <p:txBody>
          <a:bodyPr wrap="square" rtlCol="0">
            <a:spAutoFit/>
          </a:bodyPr>
          <a:lstStyle/>
          <a:p>
            <a:r>
              <a:rPr lang="en-IN" dirty="0"/>
              <a:t>Motor Driver(L298N)</a:t>
            </a:r>
          </a:p>
          <a:p>
            <a:pPr marL="285750" indent="-285750">
              <a:buFont typeface="Arial" panose="020B0604020202020204" pitchFamily="34" charset="0"/>
              <a:buChar char="•"/>
            </a:pPr>
            <a:r>
              <a:rPr lang="en-IN" sz="1100" dirty="0"/>
              <a:t>Dual H-Bridge motor driver</a:t>
            </a:r>
          </a:p>
          <a:p>
            <a:pPr marL="285750" indent="-285750">
              <a:buFont typeface="Arial" panose="020B0604020202020204" pitchFamily="34" charset="0"/>
              <a:buChar char="•"/>
            </a:pPr>
            <a:r>
              <a:rPr lang="en-IN" sz="1100" dirty="0"/>
              <a:t>Voltage:5V-35V</a:t>
            </a:r>
          </a:p>
          <a:p>
            <a:pPr marL="285750" indent="-285750">
              <a:buFont typeface="Arial" panose="020B0604020202020204" pitchFamily="34" charset="0"/>
              <a:buChar char="•"/>
            </a:pPr>
            <a:r>
              <a:rPr lang="en-IN" sz="1100" dirty="0"/>
              <a:t>Current : up to 2A per channel</a:t>
            </a:r>
          </a:p>
        </p:txBody>
      </p:sp>
      <p:sp>
        <p:nvSpPr>
          <p:cNvPr id="21" name="TextBox 20">
            <a:extLst>
              <a:ext uri="{FF2B5EF4-FFF2-40B4-BE49-F238E27FC236}">
                <a16:creationId xmlns:a16="http://schemas.microsoft.com/office/drawing/2014/main" id="{ED7179D1-44E0-5752-1104-4681364E1D28}"/>
              </a:ext>
            </a:extLst>
          </p:cNvPr>
          <p:cNvSpPr txBox="1"/>
          <p:nvPr/>
        </p:nvSpPr>
        <p:spPr>
          <a:xfrm>
            <a:off x="9475944" y="3633100"/>
            <a:ext cx="2219136" cy="1154162"/>
          </a:xfrm>
          <a:prstGeom prst="rect">
            <a:avLst/>
          </a:prstGeom>
          <a:noFill/>
        </p:spPr>
        <p:txBody>
          <a:bodyPr wrap="square" rtlCol="0">
            <a:spAutoFit/>
          </a:bodyPr>
          <a:lstStyle/>
          <a:p>
            <a:r>
              <a:rPr lang="en-IN" dirty="0"/>
              <a:t>2CH Relay Module </a:t>
            </a:r>
          </a:p>
          <a:p>
            <a:pPr marL="285750" indent="-285750">
              <a:buFont typeface="Arial" panose="020B0604020202020204" pitchFamily="34" charset="0"/>
              <a:buChar char="•"/>
            </a:pPr>
            <a:r>
              <a:rPr lang="en-IN" sz="1100" dirty="0"/>
              <a:t>Dual H-Bridge motor driver</a:t>
            </a:r>
          </a:p>
          <a:p>
            <a:pPr marL="285750" indent="-285750">
              <a:buFont typeface="Arial" panose="020B0604020202020204" pitchFamily="34" charset="0"/>
              <a:buChar char="•"/>
            </a:pPr>
            <a:r>
              <a:rPr lang="en-IN" sz="1100" dirty="0"/>
              <a:t>Voltage:5V-35V</a:t>
            </a:r>
          </a:p>
          <a:p>
            <a:pPr marL="285750" indent="-285750">
              <a:buFont typeface="Arial" panose="020B0604020202020204" pitchFamily="34" charset="0"/>
              <a:buChar char="•"/>
            </a:pPr>
            <a:r>
              <a:rPr lang="en-IN" sz="1100" dirty="0"/>
              <a:t>Current : up to 2A per channel</a:t>
            </a:r>
          </a:p>
          <a:p>
            <a:endParaRPr lang="en-IN" dirty="0"/>
          </a:p>
        </p:txBody>
      </p:sp>
      <p:sp>
        <p:nvSpPr>
          <p:cNvPr id="22" name="TextBox 21">
            <a:extLst>
              <a:ext uri="{FF2B5EF4-FFF2-40B4-BE49-F238E27FC236}">
                <a16:creationId xmlns:a16="http://schemas.microsoft.com/office/drawing/2014/main" id="{042F2B51-F2E7-0998-7A78-E56267F20749}"/>
              </a:ext>
            </a:extLst>
          </p:cNvPr>
          <p:cNvSpPr txBox="1"/>
          <p:nvPr/>
        </p:nvSpPr>
        <p:spPr>
          <a:xfrm>
            <a:off x="4251750" y="5534379"/>
            <a:ext cx="2405083" cy="707886"/>
          </a:xfrm>
          <a:prstGeom prst="rect">
            <a:avLst/>
          </a:prstGeom>
          <a:noFill/>
        </p:spPr>
        <p:txBody>
          <a:bodyPr wrap="square" rtlCol="0">
            <a:spAutoFit/>
          </a:bodyPr>
          <a:lstStyle/>
          <a:p>
            <a:r>
              <a:rPr lang="en-IN" dirty="0"/>
              <a:t>Servo Motor(MG995)</a:t>
            </a:r>
          </a:p>
          <a:p>
            <a:pPr marL="171450" indent="-171450">
              <a:buFont typeface="Arial" panose="020B0604020202020204" pitchFamily="34" charset="0"/>
              <a:buChar char="•"/>
            </a:pPr>
            <a:r>
              <a:rPr lang="en-IN" sz="1100" dirty="0"/>
              <a:t>Operating voltage:4.8V-6V</a:t>
            </a:r>
          </a:p>
          <a:p>
            <a:pPr marL="171450" indent="-171450">
              <a:buFont typeface="Arial" panose="020B0604020202020204" pitchFamily="34" charset="0"/>
              <a:buChar char="•"/>
            </a:pPr>
            <a:r>
              <a:rPr lang="en-IN" sz="1100" dirty="0"/>
              <a:t>Control : PWM from Arduino</a:t>
            </a:r>
          </a:p>
        </p:txBody>
      </p:sp>
      <p:sp>
        <p:nvSpPr>
          <p:cNvPr id="23" name="TextBox 22">
            <a:extLst>
              <a:ext uri="{FF2B5EF4-FFF2-40B4-BE49-F238E27FC236}">
                <a16:creationId xmlns:a16="http://schemas.microsoft.com/office/drawing/2014/main" id="{72A80816-F66C-7138-47BB-C6B6B4354F73}"/>
              </a:ext>
            </a:extLst>
          </p:cNvPr>
          <p:cNvSpPr txBox="1"/>
          <p:nvPr/>
        </p:nvSpPr>
        <p:spPr>
          <a:xfrm>
            <a:off x="6763319" y="5574798"/>
            <a:ext cx="2101740" cy="707886"/>
          </a:xfrm>
          <a:prstGeom prst="rect">
            <a:avLst/>
          </a:prstGeom>
          <a:noFill/>
        </p:spPr>
        <p:txBody>
          <a:bodyPr wrap="square" rtlCol="0">
            <a:spAutoFit/>
          </a:bodyPr>
          <a:lstStyle/>
          <a:p>
            <a:r>
              <a:rPr lang="en-IN" dirty="0"/>
              <a:t>Micro Servo Motor</a:t>
            </a:r>
          </a:p>
          <a:p>
            <a:pPr marL="171450" indent="-171450">
              <a:buFont typeface="Arial" panose="020B0604020202020204" pitchFamily="34" charset="0"/>
              <a:buChar char="•"/>
            </a:pPr>
            <a:r>
              <a:rPr lang="en-IN" sz="1100" dirty="0"/>
              <a:t>Operating voltage:4.8V-6V</a:t>
            </a:r>
          </a:p>
          <a:p>
            <a:pPr marL="171450" indent="-171450">
              <a:buFont typeface="Arial" panose="020B0604020202020204" pitchFamily="34" charset="0"/>
              <a:buChar char="•"/>
            </a:pPr>
            <a:r>
              <a:rPr lang="en-IN" sz="1100" dirty="0"/>
              <a:t>Control : PWM from Arduino</a:t>
            </a:r>
          </a:p>
        </p:txBody>
      </p:sp>
      <p:sp>
        <p:nvSpPr>
          <p:cNvPr id="24" name="TextBox 23">
            <a:extLst>
              <a:ext uri="{FF2B5EF4-FFF2-40B4-BE49-F238E27FC236}">
                <a16:creationId xmlns:a16="http://schemas.microsoft.com/office/drawing/2014/main" id="{1F24C00E-57FC-6EB3-7001-0427BD2F3FC4}"/>
              </a:ext>
            </a:extLst>
          </p:cNvPr>
          <p:cNvSpPr txBox="1"/>
          <p:nvPr/>
        </p:nvSpPr>
        <p:spPr>
          <a:xfrm>
            <a:off x="9475944" y="5541572"/>
            <a:ext cx="2342600" cy="877163"/>
          </a:xfrm>
          <a:prstGeom prst="rect">
            <a:avLst/>
          </a:prstGeom>
          <a:noFill/>
        </p:spPr>
        <p:txBody>
          <a:bodyPr wrap="square" rtlCol="0">
            <a:spAutoFit/>
          </a:bodyPr>
          <a:lstStyle/>
          <a:p>
            <a:r>
              <a:rPr lang="en-IN" dirty="0"/>
              <a:t>Sprinkler Pump</a:t>
            </a:r>
          </a:p>
          <a:p>
            <a:pPr marL="171450" indent="-171450">
              <a:buFont typeface="Arial" panose="020B0604020202020204" pitchFamily="34" charset="0"/>
              <a:buChar char="•"/>
            </a:pPr>
            <a:r>
              <a:rPr lang="en-IN" sz="1100" dirty="0"/>
              <a:t>Operating voltage:4.8V-6V</a:t>
            </a:r>
          </a:p>
          <a:p>
            <a:pPr marL="171450" indent="-171450">
              <a:buFont typeface="Arial" panose="020B0604020202020204" pitchFamily="34" charset="0"/>
              <a:buChar char="•"/>
            </a:pPr>
            <a:r>
              <a:rPr lang="en-IN" sz="1100" dirty="0"/>
              <a:t>Flow rate: Based on requirement</a:t>
            </a:r>
          </a:p>
          <a:p>
            <a:pPr marL="171450" indent="-171450">
              <a:buFont typeface="Arial" panose="020B0604020202020204" pitchFamily="34" charset="0"/>
              <a:buChar char="•"/>
            </a:pPr>
            <a:endParaRPr lang="en-IN" sz="1100" dirty="0"/>
          </a:p>
        </p:txBody>
      </p:sp>
      <p:pic>
        <p:nvPicPr>
          <p:cNvPr id="27" name="Picture 26">
            <a:extLst>
              <a:ext uri="{FF2B5EF4-FFF2-40B4-BE49-F238E27FC236}">
                <a16:creationId xmlns:a16="http://schemas.microsoft.com/office/drawing/2014/main" id="{858DA9C9-937C-307F-31A0-546D78C4E376}"/>
              </a:ext>
            </a:extLst>
          </p:cNvPr>
          <p:cNvPicPr>
            <a:picLocks noChangeAspect="1"/>
          </p:cNvPicPr>
          <p:nvPr/>
        </p:nvPicPr>
        <p:blipFill>
          <a:blip r:embed="rId3"/>
          <a:stretch>
            <a:fillRect/>
          </a:stretch>
        </p:blipFill>
        <p:spPr>
          <a:xfrm>
            <a:off x="5594727" y="3138879"/>
            <a:ext cx="164606" cy="530398"/>
          </a:xfrm>
          <a:prstGeom prst="rect">
            <a:avLst/>
          </a:prstGeom>
        </p:spPr>
      </p:pic>
      <p:cxnSp>
        <p:nvCxnSpPr>
          <p:cNvPr id="31" name="Connector: Elbow 30">
            <a:extLst>
              <a:ext uri="{FF2B5EF4-FFF2-40B4-BE49-F238E27FC236}">
                <a16:creationId xmlns:a16="http://schemas.microsoft.com/office/drawing/2014/main" id="{13E5072D-05AE-42A9-B269-A630E58D9005}"/>
              </a:ext>
            </a:extLst>
          </p:cNvPr>
          <p:cNvCxnSpPr>
            <a:cxnSpLocks/>
            <a:endCxn id="20" idx="0"/>
          </p:cNvCxnSpPr>
          <p:nvPr/>
        </p:nvCxnSpPr>
        <p:spPr>
          <a:xfrm rot="10800000" flipV="1">
            <a:off x="3084985" y="3304779"/>
            <a:ext cx="2605801" cy="226871"/>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3" name="Connector: Elbow 32">
            <a:extLst>
              <a:ext uri="{FF2B5EF4-FFF2-40B4-BE49-F238E27FC236}">
                <a16:creationId xmlns:a16="http://schemas.microsoft.com/office/drawing/2014/main" id="{199E01D1-4750-958A-FC19-94D0FEF87EF5}"/>
              </a:ext>
            </a:extLst>
          </p:cNvPr>
          <p:cNvCxnSpPr>
            <a:cxnSpLocks/>
            <a:endCxn id="13" idx="0"/>
          </p:cNvCxnSpPr>
          <p:nvPr/>
        </p:nvCxnSpPr>
        <p:spPr>
          <a:xfrm>
            <a:off x="6880716" y="2609676"/>
            <a:ext cx="3704796" cy="1075076"/>
          </a:xfrm>
          <a:prstGeom prst="bentConnector2">
            <a:avLst/>
          </a:prstGeom>
          <a:ln w="19050">
            <a:solidFill>
              <a:srgbClr val="0C364C"/>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495445B7-3CD5-A068-FDE1-89D00D08A35A}"/>
              </a:ext>
            </a:extLst>
          </p:cNvPr>
          <p:cNvCxnSpPr>
            <a:stCxn id="13" idx="2"/>
          </p:cNvCxnSpPr>
          <p:nvPr/>
        </p:nvCxnSpPr>
        <p:spPr>
          <a:xfrm>
            <a:off x="10585512" y="4489494"/>
            <a:ext cx="0" cy="104278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40" name="Connector: Elbow 39">
            <a:extLst>
              <a:ext uri="{FF2B5EF4-FFF2-40B4-BE49-F238E27FC236}">
                <a16:creationId xmlns:a16="http://schemas.microsoft.com/office/drawing/2014/main" id="{31DFB916-10C3-9F61-5067-D5BD34C1CEC9}"/>
              </a:ext>
            </a:extLst>
          </p:cNvPr>
          <p:cNvCxnSpPr>
            <a:cxnSpLocks/>
            <a:endCxn id="14" idx="0"/>
          </p:cNvCxnSpPr>
          <p:nvPr/>
        </p:nvCxnSpPr>
        <p:spPr>
          <a:xfrm rot="10800000" flipV="1">
            <a:off x="5302568" y="4920858"/>
            <a:ext cx="2570321" cy="536298"/>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46" name="Connector: Elbow 45">
            <a:extLst>
              <a:ext uri="{FF2B5EF4-FFF2-40B4-BE49-F238E27FC236}">
                <a16:creationId xmlns:a16="http://schemas.microsoft.com/office/drawing/2014/main" id="{3998C864-C65A-7F39-A38B-AC5D8804540E}"/>
              </a:ext>
            </a:extLst>
          </p:cNvPr>
          <p:cNvCxnSpPr>
            <a:cxnSpLocks/>
          </p:cNvCxnSpPr>
          <p:nvPr/>
        </p:nvCxnSpPr>
        <p:spPr>
          <a:xfrm rot="5400000">
            <a:off x="2010300" y="4412442"/>
            <a:ext cx="1082040" cy="1054320"/>
          </a:xfrm>
          <a:prstGeom prst="bentConnector3">
            <a:avLst/>
          </a:prstGeom>
          <a:ln w="19050">
            <a:tailEnd type="triangle"/>
          </a:ln>
        </p:spPr>
        <p:style>
          <a:lnRef idx="1">
            <a:schemeClr val="dk1"/>
          </a:lnRef>
          <a:fillRef idx="0">
            <a:schemeClr val="dk1"/>
          </a:fillRef>
          <a:effectRef idx="0">
            <a:schemeClr val="dk1"/>
          </a:effectRef>
          <a:fontRef idx="minor">
            <a:schemeClr val="tx1"/>
          </a:fontRef>
        </p:style>
      </p:cxnSp>
      <p:sp>
        <p:nvSpPr>
          <p:cNvPr id="47" name="Rectangle: Rounded Corners 46">
            <a:extLst>
              <a:ext uri="{FF2B5EF4-FFF2-40B4-BE49-F238E27FC236}">
                <a16:creationId xmlns:a16="http://schemas.microsoft.com/office/drawing/2014/main" id="{E5315CE0-3047-FDE7-A833-2A882CAAB90D}"/>
              </a:ext>
            </a:extLst>
          </p:cNvPr>
          <p:cNvSpPr/>
          <p:nvPr/>
        </p:nvSpPr>
        <p:spPr>
          <a:xfrm>
            <a:off x="367575" y="5477942"/>
            <a:ext cx="3122385" cy="804742"/>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dirty="0"/>
          </a:p>
        </p:txBody>
      </p:sp>
      <p:sp>
        <p:nvSpPr>
          <p:cNvPr id="4" name="TextBox 3">
            <a:extLst>
              <a:ext uri="{FF2B5EF4-FFF2-40B4-BE49-F238E27FC236}">
                <a16:creationId xmlns:a16="http://schemas.microsoft.com/office/drawing/2014/main" id="{61292E2A-4399-DDD9-92CF-5DA1E602FBBB}"/>
              </a:ext>
            </a:extLst>
          </p:cNvPr>
          <p:cNvSpPr txBox="1"/>
          <p:nvPr/>
        </p:nvSpPr>
        <p:spPr>
          <a:xfrm>
            <a:off x="320925" y="5443458"/>
            <a:ext cx="3278407" cy="877163"/>
          </a:xfrm>
          <a:prstGeom prst="rect">
            <a:avLst/>
          </a:prstGeom>
          <a:noFill/>
        </p:spPr>
        <p:txBody>
          <a:bodyPr wrap="square" rtlCol="0">
            <a:spAutoFit/>
          </a:bodyPr>
          <a:lstStyle/>
          <a:p>
            <a:r>
              <a:rPr lang="en-US" dirty="0"/>
              <a:t>4 × DC Geared Motors (150 RPM)</a:t>
            </a:r>
          </a:p>
          <a:p>
            <a:pPr marL="171450" indent="-171450">
              <a:buFont typeface="Arial" panose="020B0604020202020204" pitchFamily="34" charset="0"/>
              <a:buChar char="•"/>
            </a:pPr>
            <a:r>
              <a:rPr lang="en-IN" sz="1100" dirty="0"/>
              <a:t>Rated Voltage:12V DC</a:t>
            </a:r>
          </a:p>
          <a:p>
            <a:pPr marL="171450" indent="-171450">
              <a:buFont typeface="Arial" panose="020B0604020202020204" pitchFamily="34" charset="0"/>
              <a:buChar char="•"/>
            </a:pPr>
            <a:r>
              <a:rPr lang="en-IN" sz="1100" dirty="0"/>
              <a:t>RPM:150</a:t>
            </a:r>
          </a:p>
          <a:p>
            <a:pPr marL="171450" indent="-171450">
              <a:buFont typeface="Arial" panose="020B0604020202020204" pitchFamily="34" charset="0"/>
              <a:buChar char="•"/>
            </a:pPr>
            <a:r>
              <a:rPr lang="en-IN" sz="1100" dirty="0"/>
              <a:t>Torque: Suitable for lightweight agricultural robots</a:t>
            </a:r>
          </a:p>
        </p:txBody>
      </p:sp>
      <p:cxnSp>
        <p:nvCxnSpPr>
          <p:cNvPr id="37" name="Straight Arrow Connector 36">
            <a:extLst>
              <a:ext uri="{FF2B5EF4-FFF2-40B4-BE49-F238E27FC236}">
                <a16:creationId xmlns:a16="http://schemas.microsoft.com/office/drawing/2014/main" id="{139E5C70-5FD6-151E-EB4E-FC6DE015CB88}"/>
              </a:ext>
            </a:extLst>
          </p:cNvPr>
          <p:cNvCxnSpPr>
            <a:cxnSpLocks/>
            <a:stCxn id="3" idx="2"/>
            <a:endCxn id="6" idx="0"/>
          </p:cNvCxnSpPr>
          <p:nvPr/>
        </p:nvCxnSpPr>
        <p:spPr>
          <a:xfrm flipH="1">
            <a:off x="5701854" y="1892808"/>
            <a:ext cx="6216" cy="427438"/>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0" name="Connector: Elbow 29">
            <a:extLst>
              <a:ext uri="{FF2B5EF4-FFF2-40B4-BE49-F238E27FC236}">
                <a16:creationId xmlns:a16="http://schemas.microsoft.com/office/drawing/2014/main" id="{29FEC4C8-C5C2-CF19-9BF1-9211E69D598F}"/>
              </a:ext>
            </a:extLst>
          </p:cNvPr>
          <p:cNvCxnSpPr>
            <a:cxnSpLocks/>
            <a:endCxn id="15" idx="0"/>
          </p:cNvCxnSpPr>
          <p:nvPr/>
        </p:nvCxnSpPr>
        <p:spPr>
          <a:xfrm>
            <a:off x="5660191" y="3304218"/>
            <a:ext cx="2212697" cy="2176404"/>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21577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0D5FD-AD73-F72F-1FEA-B43616D927E9}"/>
              </a:ext>
            </a:extLst>
          </p:cNvPr>
          <p:cNvSpPr>
            <a:spLocks noGrp="1"/>
          </p:cNvSpPr>
          <p:nvPr>
            <p:ph type="title"/>
          </p:nvPr>
        </p:nvSpPr>
        <p:spPr>
          <a:xfrm>
            <a:off x="838200" y="-119507"/>
            <a:ext cx="10515600" cy="1325563"/>
          </a:xfrm>
        </p:spPr>
        <p:txBody>
          <a:bodyPr/>
          <a:lstStyle/>
          <a:p>
            <a:r>
              <a:rPr lang="en-IN" b="1" dirty="0">
                <a:latin typeface="Times New Roman" panose="02020603050405020304" pitchFamily="18" charset="0"/>
                <a:cs typeface="Times New Roman" panose="02020603050405020304" pitchFamily="18" charset="0"/>
              </a:rPr>
              <a:t>Block Diagram </a:t>
            </a:r>
            <a:r>
              <a:rPr lang="en-US" b="1" dirty="0">
                <a:latin typeface="Times New Roman" panose="02020603050405020304" pitchFamily="18" charset="0"/>
                <a:cs typeface="Times New Roman" panose="02020603050405020304" pitchFamily="18" charset="0"/>
              </a:rPr>
              <a:t>Specification</a:t>
            </a:r>
            <a:r>
              <a:rPr lang="en-IN" b="1" dirty="0">
                <a:latin typeface="Times New Roman" panose="02020603050405020304" pitchFamily="18" charset="0"/>
                <a:cs typeface="Times New Roman" panose="02020603050405020304" pitchFamily="18" charset="0"/>
              </a:rPr>
              <a:t> :</a:t>
            </a:r>
            <a:endParaRPr lang="en-IN" dirty="0"/>
          </a:p>
        </p:txBody>
      </p:sp>
      <p:sp>
        <p:nvSpPr>
          <p:cNvPr id="4" name="TextBox 3">
            <a:extLst>
              <a:ext uri="{FF2B5EF4-FFF2-40B4-BE49-F238E27FC236}">
                <a16:creationId xmlns:a16="http://schemas.microsoft.com/office/drawing/2014/main" id="{B3CB3FC9-29BE-61FB-020A-66BA4A7E7FD7}"/>
              </a:ext>
            </a:extLst>
          </p:cNvPr>
          <p:cNvSpPr txBox="1"/>
          <p:nvPr/>
        </p:nvSpPr>
        <p:spPr>
          <a:xfrm>
            <a:off x="548640" y="1023176"/>
            <a:ext cx="11219688" cy="7017306"/>
          </a:xfrm>
          <a:prstGeom prst="rect">
            <a:avLst/>
          </a:prstGeom>
          <a:noFill/>
        </p:spPr>
        <p:txBody>
          <a:bodyPr wrap="square" rtlCol="0">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Power Supply</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Input:</a:t>
            </a:r>
            <a:r>
              <a:rPr lang="en-US" dirty="0">
                <a:latin typeface="Times New Roman" panose="02020603050405020304" pitchFamily="18" charset="0"/>
                <a:cs typeface="Times New Roman" panose="02020603050405020304" pitchFamily="18" charset="0"/>
              </a:rPr>
              <a:t> 14.8V DC</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Output:</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14.8V DC for motors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5V regulated output for Arduino and Bluetooth</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Purpose:</a:t>
            </a:r>
            <a:r>
              <a:rPr lang="en-US" dirty="0">
                <a:latin typeface="Times New Roman" panose="02020603050405020304" pitchFamily="18" charset="0"/>
                <a:cs typeface="Times New Roman" panose="02020603050405020304" pitchFamily="18" charset="0"/>
              </a:rPr>
              <a:t> Supplies power to all components in the system.</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Arduino Mega 2560 (Main Controller)</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Function:</a:t>
            </a:r>
            <a:r>
              <a:rPr lang="en-IN" dirty="0">
                <a:latin typeface="Times New Roman" panose="02020603050405020304" pitchFamily="18" charset="0"/>
                <a:cs typeface="Times New Roman" panose="02020603050405020304" pitchFamily="18" charset="0"/>
              </a:rPr>
              <a:t> Central control unit</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I/O Pins:</a:t>
            </a:r>
            <a:endParaRPr lang="en-IN"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54 digital input/output pins</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16 </a:t>
            </a:r>
            <a:r>
              <a:rPr lang="en-IN" dirty="0" err="1">
                <a:latin typeface="Times New Roman" panose="02020603050405020304" pitchFamily="18" charset="0"/>
                <a:cs typeface="Times New Roman" panose="02020603050405020304" pitchFamily="18" charset="0"/>
              </a:rPr>
              <a:t>analog</a:t>
            </a:r>
            <a:r>
              <a:rPr lang="en-IN" dirty="0">
                <a:latin typeface="Times New Roman" panose="02020603050405020304" pitchFamily="18" charset="0"/>
                <a:cs typeface="Times New Roman" panose="02020603050405020304" pitchFamily="18" charset="0"/>
              </a:rPr>
              <a:t> input pins</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Power Supply:</a:t>
            </a:r>
            <a:r>
              <a:rPr lang="en-IN" dirty="0">
                <a:latin typeface="Times New Roman" panose="02020603050405020304" pitchFamily="18" charset="0"/>
                <a:cs typeface="Times New Roman" panose="02020603050405020304" pitchFamily="18" charset="0"/>
              </a:rPr>
              <a:t> 5V regulated from power module</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Communication:</a:t>
            </a:r>
            <a:r>
              <a:rPr lang="en-IN" dirty="0">
                <a:latin typeface="Times New Roman" panose="02020603050405020304" pitchFamily="18" charset="0"/>
                <a:cs typeface="Times New Roman" panose="02020603050405020304" pitchFamily="18" charset="0"/>
              </a:rPr>
              <a:t> Controls peripherals via digital signals and PWM</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Motor Driver (L298N)</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Type:</a:t>
            </a:r>
            <a:r>
              <a:rPr lang="en-US" dirty="0">
                <a:latin typeface="Times New Roman" panose="02020603050405020304" pitchFamily="18" charset="0"/>
                <a:cs typeface="Times New Roman" panose="02020603050405020304" pitchFamily="18" charset="0"/>
              </a:rPr>
              <a:t> Dual H-Bridge motor driver</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Voltage Range:</a:t>
            </a:r>
            <a:r>
              <a:rPr lang="en-US" dirty="0">
                <a:latin typeface="Times New Roman" panose="02020603050405020304" pitchFamily="18" charset="0"/>
                <a:cs typeface="Times New Roman" panose="02020603050405020304" pitchFamily="18" charset="0"/>
              </a:rPr>
              <a:t> 5V to 35V</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Current:</a:t>
            </a:r>
            <a:r>
              <a:rPr lang="en-US" dirty="0">
                <a:latin typeface="Times New Roman" panose="02020603050405020304" pitchFamily="18" charset="0"/>
                <a:cs typeface="Times New Roman" panose="02020603050405020304" pitchFamily="18" charset="0"/>
              </a:rPr>
              <a:t> Up to 2A per channel</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Controlled Device:</a:t>
            </a:r>
            <a:r>
              <a:rPr lang="en-US" dirty="0">
                <a:latin typeface="Times New Roman" panose="02020603050405020304" pitchFamily="18" charset="0"/>
                <a:cs typeface="Times New Roman" panose="02020603050405020304" pitchFamily="18" charset="0"/>
              </a:rPr>
              <a:t> DC geared motors</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232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694EE0-6301-450D-ADC6-A90AD62ADB2B}"/>
              </a:ext>
            </a:extLst>
          </p:cNvPr>
          <p:cNvSpPr txBox="1"/>
          <p:nvPr/>
        </p:nvSpPr>
        <p:spPr>
          <a:xfrm>
            <a:off x="713232" y="475488"/>
            <a:ext cx="10844784" cy="6463308"/>
          </a:xfrm>
          <a:prstGeom prst="rect">
            <a:avLst/>
          </a:prstGeom>
          <a:noFill/>
        </p:spPr>
        <p:txBody>
          <a:bodyPr wrap="square" rtlCol="0">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4 × DC Geared Motors (150 RPM)</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Rated Voltage:</a:t>
            </a:r>
            <a:r>
              <a:rPr lang="en-US" dirty="0">
                <a:latin typeface="Times New Roman" panose="02020603050405020304" pitchFamily="18" charset="0"/>
                <a:cs typeface="Times New Roman" panose="02020603050405020304" pitchFamily="18" charset="0"/>
              </a:rPr>
              <a:t> 12V DC</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Speed:</a:t>
            </a:r>
            <a:r>
              <a:rPr lang="en-US" dirty="0">
                <a:latin typeface="Times New Roman" panose="02020603050405020304" pitchFamily="18" charset="0"/>
                <a:cs typeface="Times New Roman" panose="02020603050405020304" pitchFamily="18" charset="0"/>
              </a:rPr>
              <a:t> 150 RPM</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Use:</a:t>
            </a:r>
            <a:r>
              <a:rPr lang="en-US" dirty="0">
                <a:latin typeface="Times New Roman" panose="02020603050405020304" pitchFamily="18" charset="0"/>
                <a:cs typeface="Times New Roman" panose="02020603050405020304" pitchFamily="18" charset="0"/>
              </a:rPr>
              <a:t> Lightweight agricultural robot movement</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Torque:</a:t>
            </a:r>
            <a:r>
              <a:rPr lang="en-US" dirty="0">
                <a:latin typeface="Times New Roman" panose="02020603050405020304" pitchFamily="18" charset="0"/>
                <a:cs typeface="Times New Roman" panose="02020603050405020304" pitchFamily="18" charset="0"/>
              </a:rPr>
              <a:t> Moderate, suitable for mobile platforms</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HC-05 Bluetooth Module</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Communication:</a:t>
            </a:r>
            <a:r>
              <a:rPr lang="en-IN" dirty="0">
                <a:latin typeface="Times New Roman" panose="02020603050405020304" pitchFamily="18" charset="0"/>
                <a:cs typeface="Times New Roman" panose="02020603050405020304" pitchFamily="18" charset="0"/>
              </a:rPr>
              <a:t> Serial UART</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Voltage Level:</a:t>
            </a:r>
            <a:r>
              <a:rPr lang="en-IN" dirty="0">
                <a:latin typeface="Times New Roman" panose="02020603050405020304" pitchFamily="18" charset="0"/>
                <a:cs typeface="Times New Roman" panose="02020603050405020304" pitchFamily="18" charset="0"/>
              </a:rPr>
              <a:t> 5V logic level</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Range:</a:t>
            </a:r>
            <a:r>
              <a:rPr lang="en-IN" dirty="0">
                <a:latin typeface="Times New Roman" panose="02020603050405020304" pitchFamily="18" charset="0"/>
                <a:cs typeface="Times New Roman" panose="02020603050405020304" pitchFamily="18" charset="0"/>
              </a:rPr>
              <a:t> 10 meters</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Purpose:</a:t>
            </a:r>
            <a:r>
              <a:rPr lang="en-IN" dirty="0">
                <a:latin typeface="Times New Roman" panose="02020603050405020304" pitchFamily="18" charset="0"/>
                <a:cs typeface="Times New Roman" panose="02020603050405020304" pitchFamily="18" charset="0"/>
              </a:rPr>
              <a:t> Wireless communication with Arduino (e.g., from smartphone or computer)</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2CH Relay Module</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Type:</a:t>
            </a:r>
            <a:r>
              <a:rPr lang="en-US" dirty="0">
                <a:latin typeface="Times New Roman" panose="02020603050405020304" pitchFamily="18" charset="0"/>
                <a:cs typeface="Times New Roman" panose="02020603050405020304" pitchFamily="18" charset="0"/>
              </a:rPr>
              <a:t> 2-channel relay board</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Voltage Support:</a:t>
            </a:r>
            <a:r>
              <a:rPr lang="en-US" dirty="0">
                <a:latin typeface="Times New Roman" panose="02020603050405020304" pitchFamily="18" charset="0"/>
                <a:cs typeface="Times New Roman" panose="02020603050405020304" pitchFamily="18" charset="0"/>
              </a:rPr>
              <a:t> 5V to 35V</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Current Capacity:</a:t>
            </a:r>
            <a:r>
              <a:rPr lang="en-US" dirty="0">
                <a:latin typeface="Times New Roman" panose="02020603050405020304" pitchFamily="18" charset="0"/>
                <a:cs typeface="Times New Roman" panose="02020603050405020304" pitchFamily="18" charset="0"/>
              </a:rPr>
              <a:t> Up to 2A per channel</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Use:</a:t>
            </a:r>
            <a:r>
              <a:rPr lang="en-US" dirty="0">
                <a:latin typeface="Times New Roman" panose="02020603050405020304" pitchFamily="18" charset="0"/>
                <a:cs typeface="Times New Roman" panose="02020603050405020304" pitchFamily="18" charset="0"/>
              </a:rPr>
              <a:t> Switching high-power devices like pump or servos</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Servo Motor (MG995)</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Operating Voltage:</a:t>
            </a:r>
            <a:r>
              <a:rPr lang="en-US" dirty="0">
                <a:latin typeface="Times New Roman" panose="02020603050405020304" pitchFamily="18" charset="0"/>
                <a:cs typeface="Times New Roman" panose="02020603050405020304" pitchFamily="18" charset="0"/>
              </a:rPr>
              <a:t> 4.8V to 6V</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Control:</a:t>
            </a:r>
            <a:r>
              <a:rPr lang="en-US" dirty="0">
                <a:latin typeface="Times New Roman" panose="02020603050405020304" pitchFamily="18" charset="0"/>
                <a:cs typeface="Times New Roman" panose="02020603050405020304" pitchFamily="18" charset="0"/>
              </a:rPr>
              <a:t> PWM from Arduino</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Use:</a:t>
            </a:r>
            <a:r>
              <a:rPr lang="en-US" dirty="0">
                <a:latin typeface="Times New Roman" panose="02020603050405020304" pitchFamily="18" charset="0"/>
                <a:cs typeface="Times New Roman" panose="02020603050405020304" pitchFamily="18" charset="0"/>
              </a:rPr>
              <a:t> Typically for steering or controlled positioning</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4711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B71ED76-BCFC-1486-B6C5-CF902DEAA622}"/>
              </a:ext>
            </a:extLst>
          </p:cNvPr>
          <p:cNvSpPr txBox="1"/>
          <p:nvPr/>
        </p:nvSpPr>
        <p:spPr>
          <a:xfrm>
            <a:off x="768096" y="585216"/>
            <a:ext cx="10634472" cy="3416320"/>
          </a:xfrm>
          <a:prstGeom prst="rect">
            <a:avLst/>
          </a:prstGeom>
          <a:noFill/>
        </p:spPr>
        <p:txBody>
          <a:bodyPr wrap="square" rtlCol="0">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Micro Servo Motor</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Operating Voltage:</a:t>
            </a:r>
            <a:r>
              <a:rPr lang="en-US" dirty="0">
                <a:latin typeface="Times New Roman" panose="02020603050405020304" pitchFamily="18" charset="0"/>
                <a:cs typeface="Times New Roman" panose="02020603050405020304" pitchFamily="18" charset="0"/>
              </a:rPr>
              <a:t> 4.8V to 6V</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Control:</a:t>
            </a:r>
            <a:r>
              <a:rPr lang="en-US" dirty="0">
                <a:latin typeface="Times New Roman" panose="02020603050405020304" pitchFamily="18" charset="0"/>
                <a:cs typeface="Times New Roman" panose="02020603050405020304" pitchFamily="18" charset="0"/>
              </a:rPr>
              <a:t> PWM from Arduino</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Use:</a:t>
            </a:r>
            <a:r>
              <a:rPr lang="en-US" dirty="0">
                <a:latin typeface="Times New Roman" panose="02020603050405020304" pitchFamily="18" charset="0"/>
                <a:cs typeface="Times New Roman" panose="02020603050405020304" pitchFamily="18" charset="0"/>
              </a:rPr>
              <a:t> Precise, lightweight motion control</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Sprinkler Pump</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Operating Voltage:</a:t>
            </a:r>
            <a:r>
              <a:rPr lang="en-US" dirty="0">
                <a:latin typeface="Times New Roman" panose="02020603050405020304" pitchFamily="18" charset="0"/>
                <a:cs typeface="Times New Roman" panose="02020603050405020304" pitchFamily="18" charset="0"/>
              </a:rPr>
              <a:t> 4.8V to 5V</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Control:</a:t>
            </a:r>
            <a:r>
              <a:rPr lang="en-US" dirty="0">
                <a:latin typeface="Times New Roman" panose="02020603050405020304" pitchFamily="18" charset="0"/>
                <a:cs typeface="Times New Roman" panose="02020603050405020304" pitchFamily="18" charset="0"/>
              </a:rPr>
              <a:t> Likely through relay module</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Flow Rate:</a:t>
            </a:r>
            <a:r>
              <a:rPr lang="en-US" dirty="0">
                <a:latin typeface="Times New Roman" panose="02020603050405020304" pitchFamily="18" charset="0"/>
                <a:cs typeface="Times New Roman" panose="02020603050405020304" pitchFamily="18" charset="0"/>
              </a:rPr>
              <a:t> Configurable based on specific needs</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Use:</a:t>
            </a:r>
            <a:r>
              <a:rPr lang="en-US" dirty="0">
                <a:latin typeface="Times New Roman" panose="02020603050405020304" pitchFamily="18" charset="0"/>
                <a:cs typeface="Times New Roman" panose="02020603050405020304" pitchFamily="18" charset="0"/>
              </a:rPr>
              <a:t> Water distribution/spraying in agricultural setup</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7946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75FBF-22A9-CA9A-5BED-9CBE26C3A249}"/>
              </a:ext>
            </a:extLst>
          </p:cNvPr>
          <p:cNvSpPr>
            <a:spLocks noGrp="1"/>
          </p:cNvSpPr>
          <p:nvPr>
            <p:ph type="title"/>
          </p:nvPr>
        </p:nvSpPr>
        <p:spPr>
          <a:xfrm>
            <a:off x="573024" y="0"/>
            <a:ext cx="10515600" cy="1325563"/>
          </a:xfrm>
        </p:spPr>
        <p:txBody>
          <a:bodyPr/>
          <a:lstStyle/>
          <a:p>
            <a:r>
              <a:rPr lang="en-IN" b="1" dirty="0">
                <a:latin typeface="Times New Roman" panose="02020603050405020304" pitchFamily="18" charset="0"/>
                <a:cs typeface="Times New Roman" panose="02020603050405020304" pitchFamily="18" charset="0"/>
              </a:rPr>
              <a:t>Agrirobot Code : </a:t>
            </a:r>
          </a:p>
        </p:txBody>
      </p:sp>
      <p:graphicFrame>
        <p:nvGraphicFramePr>
          <p:cNvPr id="5" name="Object 4">
            <a:extLst>
              <a:ext uri="{FF2B5EF4-FFF2-40B4-BE49-F238E27FC236}">
                <a16:creationId xmlns:a16="http://schemas.microsoft.com/office/drawing/2014/main" id="{13ADAADC-F609-F6BB-48A8-9FE32A2E85D6}"/>
              </a:ext>
            </a:extLst>
          </p:cNvPr>
          <p:cNvGraphicFramePr>
            <a:graphicFrameLocks noChangeAspect="1"/>
          </p:cNvGraphicFramePr>
          <p:nvPr>
            <p:extLst>
              <p:ext uri="{D42A27DB-BD31-4B8C-83A1-F6EECF244321}">
                <p14:modId xmlns:p14="http://schemas.microsoft.com/office/powerpoint/2010/main" val="2853912805"/>
              </p:ext>
            </p:extLst>
          </p:nvPr>
        </p:nvGraphicFramePr>
        <p:xfrm>
          <a:off x="2570718" y="1471538"/>
          <a:ext cx="1648080" cy="989711"/>
        </p:xfrm>
        <a:graphic>
          <a:graphicData uri="http://schemas.openxmlformats.org/presentationml/2006/ole">
            <mc:AlternateContent xmlns:mc="http://schemas.openxmlformats.org/markup-compatibility/2006">
              <mc:Choice xmlns:v="urn:schemas-microsoft-com:vml" Requires="v">
                <p:oleObj name="Packager Shell Object" showAsIcon="1" r:id="rId2" imgW="838271" imgH="517956" progId="Package">
                  <p:embed/>
                </p:oleObj>
              </mc:Choice>
              <mc:Fallback>
                <p:oleObj name="Packager Shell Object" showAsIcon="1" r:id="rId2" imgW="838271" imgH="517956" progId="Package">
                  <p:embed/>
                  <p:pic>
                    <p:nvPicPr>
                      <p:cNvPr id="5" name="Object 4">
                        <a:extLst>
                          <a:ext uri="{FF2B5EF4-FFF2-40B4-BE49-F238E27FC236}">
                            <a16:creationId xmlns:a16="http://schemas.microsoft.com/office/drawing/2014/main" id="{13ADAADC-F609-F6BB-48A8-9FE32A2E85D6}"/>
                          </a:ext>
                        </a:extLst>
                      </p:cNvPr>
                      <p:cNvPicPr/>
                      <p:nvPr/>
                    </p:nvPicPr>
                    <p:blipFill>
                      <a:blip r:embed="rId3"/>
                      <a:stretch>
                        <a:fillRect/>
                      </a:stretch>
                    </p:blipFill>
                    <p:spPr>
                      <a:xfrm>
                        <a:off x="2570718" y="1471538"/>
                        <a:ext cx="1648080" cy="989711"/>
                      </a:xfrm>
                      <a:prstGeom prst="rect">
                        <a:avLst/>
                      </a:prstGeom>
                    </p:spPr>
                  </p:pic>
                </p:oleObj>
              </mc:Fallback>
            </mc:AlternateContent>
          </a:graphicData>
        </a:graphic>
      </p:graphicFrame>
      <p:sp>
        <p:nvSpPr>
          <p:cNvPr id="6" name="Rectangle 2">
            <a:extLst>
              <a:ext uri="{FF2B5EF4-FFF2-40B4-BE49-F238E27FC236}">
                <a16:creationId xmlns:a16="http://schemas.microsoft.com/office/drawing/2014/main" id="{27A8BAF7-307E-AA72-880F-37B4D9ACFD6E}"/>
              </a:ext>
            </a:extLst>
          </p:cNvPr>
          <p:cNvSpPr>
            <a:spLocks noChangeArrowheads="1"/>
          </p:cNvSpPr>
          <p:nvPr/>
        </p:nvSpPr>
        <p:spPr bwMode="auto">
          <a:xfrm>
            <a:off x="979932" y="2610683"/>
            <a:ext cx="10917936"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Functionalities:</a:t>
            </a: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Bluetooth Communication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Listens to commands via the HC-05 Bluetooth module on pins 10 (RX) and11 (TX).</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DC Motor Control</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(via L298N driver):</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Pins: ENA, IN1, IN2 for Motor A; ENB, IN3, IN4 for Motor B.</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directions: Forward, Backward, Left, Right, and Stop.</a:t>
            </a:r>
          </a:p>
          <a:p>
            <a:pPr marL="457200" marR="0" lvl="1" indent="0" algn="just"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Servo Motor Control</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Controlled on pin 6 using PWM.</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Turns to 45° (W) or returns to 0° (w).</a:t>
            </a:r>
          </a:p>
          <a:p>
            <a:pPr marL="457200" marR="0" lvl="1" indent="0" algn="just"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4"/>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Relay Control</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Relay on pin 7 toggles ON (V) or OFF (v) for external devices.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4F13065-6BC3-C04A-420C-C6404AED46C0}"/>
              </a:ext>
            </a:extLst>
          </p:cNvPr>
          <p:cNvSpPr txBox="1"/>
          <p:nvPr/>
        </p:nvSpPr>
        <p:spPr>
          <a:xfrm>
            <a:off x="979932" y="1240706"/>
            <a:ext cx="1317990" cy="461665"/>
          </a:xfrm>
          <a:prstGeom prst="rect">
            <a:avLst/>
          </a:prstGeom>
          <a:noFill/>
        </p:spPr>
        <p:txBody>
          <a:bodyPr wrap="none" rtlCol="0">
            <a:spAutoFit/>
          </a:bodyPr>
          <a:lstStyle/>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Code:</a:t>
            </a:r>
          </a:p>
        </p:txBody>
      </p:sp>
    </p:spTree>
    <p:extLst>
      <p:ext uri="{BB962C8B-B14F-4D97-AF65-F5344CB8AC3E}">
        <p14:creationId xmlns:p14="http://schemas.microsoft.com/office/powerpoint/2010/main" val="2787703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B7073-AECC-B663-BBD4-F13CDB4065F0}"/>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Optimizations in Project :</a:t>
            </a:r>
          </a:p>
        </p:txBody>
      </p:sp>
      <p:sp>
        <p:nvSpPr>
          <p:cNvPr id="3" name="TextBox 2">
            <a:extLst>
              <a:ext uri="{FF2B5EF4-FFF2-40B4-BE49-F238E27FC236}">
                <a16:creationId xmlns:a16="http://schemas.microsoft.com/office/drawing/2014/main" id="{AD0F1378-9743-BAA7-D607-CA914313AADB}"/>
              </a:ext>
            </a:extLst>
          </p:cNvPr>
          <p:cNvSpPr txBox="1"/>
          <p:nvPr/>
        </p:nvSpPr>
        <p:spPr>
          <a:xfrm>
            <a:off x="914400" y="1764792"/>
            <a:ext cx="10515600" cy="3416320"/>
          </a:xfrm>
          <a:prstGeom prst="rect">
            <a:avLst/>
          </a:prstGeom>
          <a:noFill/>
        </p:spPr>
        <p:txBody>
          <a:bodyPr wrap="square" rtlCol="0">
            <a:spAutoFit/>
          </a:bodyPr>
          <a:lstStyle/>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Connectivity: Upgrade from Bluetooth  for wider control range.</a:t>
            </a:r>
          </a:p>
          <a:p>
            <a:pPr marL="342900" indent="-342900"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Terrain Adaptability: Add adjustable suspension or terrain-following mechanism for uneven fields. </a:t>
            </a:r>
          </a:p>
          <a:p>
            <a:pPr marL="342900" indent="-342900"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Seed Dispensing: Use interchangeable drums for different seed sizes to ensure uniform placement.</a:t>
            </a:r>
          </a:p>
          <a:p>
            <a:pPr marL="342900" indent="-342900"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Modular Design: Use detachable parts for easy maintenance and customization.</a:t>
            </a:r>
          </a:p>
        </p:txBody>
      </p:sp>
    </p:spTree>
    <p:extLst>
      <p:ext uri="{BB962C8B-B14F-4D97-AF65-F5344CB8AC3E}">
        <p14:creationId xmlns:p14="http://schemas.microsoft.com/office/powerpoint/2010/main" val="12294833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3BAC6-4037-EE17-96B6-CE7BA72DE5CD}"/>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Simulation :</a:t>
            </a:r>
            <a:endParaRPr lang="en-IN" dirty="0"/>
          </a:p>
        </p:txBody>
      </p:sp>
      <p:pic>
        <p:nvPicPr>
          <p:cNvPr id="4" name="Picture 3">
            <a:extLst>
              <a:ext uri="{FF2B5EF4-FFF2-40B4-BE49-F238E27FC236}">
                <a16:creationId xmlns:a16="http://schemas.microsoft.com/office/drawing/2014/main" id="{B3568D05-599B-5CF8-44AE-230747BF8E4E}"/>
              </a:ext>
            </a:extLst>
          </p:cNvPr>
          <p:cNvPicPr>
            <a:picLocks noChangeAspect="1"/>
          </p:cNvPicPr>
          <p:nvPr/>
        </p:nvPicPr>
        <p:blipFill>
          <a:blip r:embed="rId2">
            <a:extLst>
              <a:ext uri="{28A0092B-C50C-407E-A947-70E740481C1C}">
                <a14:useLocalDpi xmlns:a14="http://schemas.microsoft.com/office/drawing/2010/main" val="0"/>
              </a:ext>
            </a:extLst>
          </a:blip>
          <a:srcRect l="16928" t="8817" r="10536"/>
          <a:stretch/>
        </p:blipFill>
        <p:spPr>
          <a:xfrm>
            <a:off x="838200" y="1462303"/>
            <a:ext cx="10515599" cy="5030572"/>
          </a:xfrm>
          <a:prstGeom prst="rect">
            <a:avLst/>
          </a:prstGeom>
        </p:spPr>
      </p:pic>
    </p:spTree>
    <p:extLst>
      <p:ext uri="{BB962C8B-B14F-4D97-AF65-F5344CB8AC3E}">
        <p14:creationId xmlns:p14="http://schemas.microsoft.com/office/powerpoint/2010/main" val="15154033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21591-D36D-4306-D3AF-9C998824117D}"/>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Partial Demonstration of Results :</a:t>
            </a:r>
          </a:p>
        </p:txBody>
      </p:sp>
      <p:pic>
        <p:nvPicPr>
          <p:cNvPr id="4" name="Picture 3">
            <a:extLst>
              <a:ext uri="{FF2B5EF4-FFF2-40B4-BE49-F238E27FC236}">
                <a16:creationId xmlns:a16="http://schemas.microsoft.com/office/drawing/2014/main" id="{BB93B164-4A1A-E345-4DF7-EA1A03E3FF20}"/>
              </a:ext>
            </a:extLst>
          </p:cNvPr>
          <p:cNvPicPr>
            <a:picLocks noChangeAspect="1"/>
          </p:cNvPicPr>
          <p:nvPr/>
        </p:nvPicPr>
        <p:blipFill>
          <a:blip r:embed="rId2">
            <a:extLst>
              <a:ext uri="{28A0092B-C50C-407E-A947-70E740481C1C}">
                <a14:useLocalDpi xmlns:a14="http://schemas.microsoft.com/office/drawing/2010/main" val="0"/>
              </a:ext>
            </a:extLst>
          </a:blip>
          <a:srcRect r="15551"/>
          <a:stretch/>
        </p:blipFill>
        <p:spPr>
          <a:xfrm>
            <a:off x="740664" y="1655699"/>
            <a:ext cx="4937760" cy="4837176"/>
          </a:xfrm>
          <a:prstGeom prst="rect">
            <a:avLst/>
          </a:prstGeom>
        </p:spPr>
      </p:pic>
      <p:pic>
        <p:nvPicPr>
          <p:cNvPr id="5" name="Picture 4">
            <a:extLst>
              <a:ext uri="{FF2B5EF4-FFF2-40B4-BE49-F238E27FC236}">
                <a16:creationId xmlns:a16="http://schemas.microsoft.com/office/drawing/2014/main" id="{53CA4181-495E-1F5B-09C9-4A795BC1B85D}"/>
              </a:ext>
            </a:extLst>
          </p:cNvPr>
          <p:cNvPicPr>
            <a:picLocks noChangeAspect="1"/>
          </p:cNvPicPr>
          <p:nvPr/>
        </p:nvPicPr>
        <p:blipFill>
          <a:blip r:embed="rId3"/>
          <a:srcRect t="32534" b="5733"/>
          <a:stretch/>
        </p:blipFill>
        <p:spPr>
          <a:xfrm>
            <a:off x="6513576" y="1655698"/>
            <a:ext cx="4937759" cy="4837175"/>
          </a:xfrm>
          <a:prstGeom prst="rect">
            <a:avLst/>
          </a:prstGeom>
        </p:spPr>
      </p:pic>
    </p:spTree>
    <p:extLst>
      <p:ext uri="{BB962C8B-B14F-4D97-AF65-F5344CB8AC3E}">
        <p14:creationId xmlns:p14="http://schemas.microsoft.com/office/powerpoint/2010/main" val="32738650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1A9B49-BFF2-282D-FBD5-7110F028B4D3}"/>
              </a:ext>
            </a:extLst>
          </p:cNvPr>
          <p:cNvSpPr txBox="1"/>
          <p:nvPr/>
        </p:nvSpPr>
        <p:spPr>
          <a:xfrm>
            <a:off x="777240" y="246888"/>
            <a:ext cx="7443216" cy="769441"/>
          </a:xfrm>
          <a:prstGeom prst="rect">
            <a:avLst/>
          </a:prstGeom>
          <a:noFill/>
        </p:spPr>
        <p:txBody>
          <a:bodyPr wrap="square" rtlCol="0">
            <a:spAutoFit/>
          </a:bodyPr>
          <a:lstStyle/>
          <a:p>
            <a:r>
              <a:rPr lang="en-IN" sz="4400" b="1" dirty="0">
                <a:latin typeface="Times New Roman" panose="02020603050405020304" pitchFamily="18" charset="0"/>
                <a:cs typeface="Times New Roman" panose="02020603050405020304" pitchFamily="18" charset="0"/>
              </a:rPr>
              <a:t>Bill of Material :</a:t>
            </a:r>
          </a:p>
        </p:txBody>
      </p:sp>
      <p:pic>
        <p:nvPicPr>
          <p:cNvPr id="4" name="Picture 3">
            <a:extLst>
              <a:ext uri="{FF2B5EF4-FFF2-40B4-BE49-F238E27FC236}">
                <a16:creationId xmlns:a16="http://schemas.microsoft.com/office/drawing/2014/main" id="{D5325810-F6A3-A743-0F4E-6197B709F959}"/>
              </a:ext>
            </a:extLst>
          </p:cNvPr>
          <p:cNvPicPr>
            <a:picLocks noChangeAspect="1"/>
          </p:cNvPicPr>
          <p:nvPr/>
        </p:nvPicPr>
        <p:blipFill>
          <a:blip r:embed="rId2"/>
          <a:stretch>
            <a:fillRect/>
          </a:stretch>
        </p:blipFill>
        <p:spPr>
          <a:xfrm>
            <a:off x="1152144" y="1307591"/>
            <a:ext cx="9436608" cy="5121783"/>
          </a:xfrm>
          <a:prstGeom prst="rect">
            <a:avLst/>
          </a:prstGeom>
        </p:spPr>
      </p:pic>
    </p:spTree>
    <p:extLst>
      <p:ext uri="{BB962C8B-B14F-4D97-AF65-F5344CB8AC3E}">
        <p14:creationId xmlns:p14="http://schemas.microsoft.com/office/powerpoint/2010/main" val="21544379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06509-7D0B-E595-4373-AB8882E5E65A}"/>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Result :</a:t>
            </a:r>
          </a:p>
        </p:txBody>
      </p:sp>
      <p:pic>
        <p:nvPicPr>
          <p:cNvPr id="4" name="Picture 3">
            <a:extLst>
              <a:ext uri="{FF2B5EF4-FFF2-40B4-BE49-F238E27FC236}">
                <a16:creationId xmlns:a16="http://schemas.microsoft.com/office/drawing/2014/main" id="{EF826113-5CE7-A63D-C16D-A402633B3A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648" y="1653357"/>
            <a:ext cx="5540036" cy="4458929"/>
          </a:xfrm>
          <a:prstGeom prst="rect">
            <a:avLst/>
          </a:prstGeom>
        </p:spPr>
      </p:pic>
      <p:pic>
        <p:nvPicPr>
          <p:cNvPr id="6" name="Picture 5">
            <a:extLst>
              <a:ext uri="{FF2B5EF4-FFF2-40B4-BE49-F238E27FC236}">
                <a16:creationId xmlns:a16="http://schemas.microsoft.com/office/drawing/2014/main" id="{0597510B-6EBA-26BE-0DDD-B51F66DA35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2707" y="1653357"/>
            <a:ext cx="5160645" cy="4567084"/>
          </a:xfrm>
          <a:prstGeom prst="rect">
            <a:avLst/>
          </a:prstGeom>
        </p:spPr>
      </p:pic>
    </p:spTree>
    <p:extLst>
      <p:ext uri="{BB962C8B-B14F-4D97-AF65-F5344CB8AC3E}">
        <p14:creationId xmlns:p14="http://schemas.microsoft.com/office/powerpoint/2010/main" val="1568687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88951-52FD-A0FB-4127-BC2BB37ECD46}"/>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Conclusion:</a:t>
            </a:r>
          </a:p>
        </p:txBody>
      </p:sp>
      <p:sp>
        <p:nvSpPr>
          <p:cNvPr id="3" name="TextBox 2">
            <a:extLst>
              <a:ext uri="{FF2B5EF4-FFF2-40B4-BE49-F238E27FC236}">
                <a16:creationId xmlns:a16="http://schemas.microsoft.com/office/drawing/2014/main" id="{84DD4FD1-CA91-5F96-B2CC-B16CBBB79D6B}"/>
              </a:ext>
            </a:extLst>
          </p:cNvPr>
          <p:cNvSpPr txBox="1"/>
          <p:nvPr/>
        </p:nvSpPr>
        <p:spPr>
          <a:xfrm>
            <a:off x="960120" y="1892808"/>
            <a:ext cx="10012680" cy="3139321"/>
          </a:xfrm>
          <a:prstGeom prst="rect">
            <a:avLst/>
          </a:prstGeom>
          <a:noFill/>
        </p:spPr>
        <p:txBody>
          <a:bodyPr wrap="square" rtlCol="0">
            <a:spAutoFit/>
          </a:bodyPr>
          <a:lstStyle/>
          <a:p>
            <a:r>
              <a:rPr lang="en-US" dirty="0"/>
              <a:t>The autonomous seed sowing robot marks a significant advancement in agricultural automation by integrating soil digging, seed sowing, soil covering, and water spraying into a single, efficient system. The robot demonstrated reliable performance during testing, with precise seed placement, consistent soil coverage, and effective water distribution, significantly reducing manual effort and improving productivity. Its user-friendly Bluetooth based control system allowed real-time adjustments for seed spacing and water flow, catering to various crop requirements. Despite challenges such as limited adaptability to uneven terrains, handling seeds of varying sizes, and the communication range of </a:t>
            </a:r>
            <a:r>
              <a:rPr lang="en-US"/>
              <a:t>the control </a:t>
            </a:r>
            <a:r>
              <a:rPr lang="en-US" dirty="0"/>
              <a:t>system, the project highlights a promising solution to modern agricultural challenges like labor shortages and inefficiencies. With further refinements, including terrain adapt ability, extended-range connectivity, and advanced navigation systems, the robot has the potential to revolutionize farming practices, contributing to higher yields, resource optimization, and sustainable agricultural development</a:t>
            </a:r>
            <a:endParaRPr lang="en-IN" dirty="0"/>
          </a:p>
        </p:txBody>
      </p:sp>
    </p:spTree>
    <p:extLst>
      <p:ext uri="{BB962C8B-B14F-4D97-AF65-F5344CB8AC3E}">
        <p14:creationId xmlns:p14="http://schemas.microsoft.com/office/powerpoint/2010/main" val="23306577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1A045BB7-2140-BE95-CEEE-5ACCE58B906C}"/>
              </a:ext>
            </a:extLst>
          </p:cNvPr>
          <p:cNvSpPr txBox="1"/>
          <p:nvPr/>
        </p:nvSpPr>
        <p:spPr>
          <a:xfrm>
            <a:off x="3976669" y="2228671"/>
            <a:ext cx="4238661" cy="1200329"/>
          </a:xfrm>
          <a:prstGeom prst="rect">
            <a:avLst/>
          </a:prstGeom>
          <a:noFill/>
        </p:spPr>
        <p:txBody>
          <a:bodyPr wrap="square" rtlCol="0">
            <a:spAutoFit/>
          </a:bodyPr>
          <a:lstStyle/>
          <a:p>
            <a:r>
              <a:rPr lang="en-IN" sz="7200" dirty="0">
                <a:solidFill>
                  <a:srgbClr val="FF0000"/>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6241746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765</TotalTime>
  <Words>985</Words>
  <Application>Microsoft Office PowerPoint</Application>
  <PresentationFormat>Widescreen</PresentationFormat>
  <Paragraphs>165</Paragraphs>
  <Slides>18</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5" baseType="lpstr">
      <vt:lpstr>Arial</vt:lpstr>
      <vt:lpstr>Calibri</vt:lpstr>
      <vt:lpstr>Calibri Light</vt:lpstr>
      <vt:lpstr>Times New Roman</vt:lpstr>
      <vt:lpstr>Wingdings</vt:lpstr>
      <vt:lpstr>Office Theme</vt:lpstr>
      <vt:lpstr>Packager Shell Object</vt:lpstr>
      <vt:lpstr>   Automatic Seed Sowing and Spraying Agriculture Robot  </vt:lpstr>
      <vt:lpstr>Problem Statement :</vt:lpstr>
      <vt:lpstr>PowerPoint Presentation</vt:lpstr>
      <vt:lpstr>PowerPoint Presentation</vt:lpstr>
      <vt:lpstr>Specification :</vt:lpstr>
      <vt:lpstr>Identification :</vt:lpstr>
      <vt:lpstr>Functional Block Diagram :</vt:lpstr>
      <vt:lpstr>Block Diagram Specification :</vt:lpstr>
      <vt:lpstr>PowerPoint Presentation</vt:lpstr>
      <vt:lpstr>PowerPoint Presentation</vt:lpstr>
      <vt:lpstr>Agrirobot Code : </vt:lpstr>
      <vt:lpstr>Optimizations in Project :</vt:lpstr>
      <vt:lpstr>Simulation :</vt:lpstr>
      <vt:lpstr>Partial Demonstration of Results :</vt:lpstr>
      <vt:lpstr>PowerPoint Presentation</vt:lpstr>
      <vt:lpstr>Result :</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Krutika Hooli</dc:creator>
  <cp:lastModifiedBy>Pruthviraj Banoshi</cp:lastModifiedBy>
  <cp:revision>14</cp:revision>
  <dcterms:created xsi:type="dcterms:W3CDTF">2025-04-11T14:28:33Z</dcterms:created>
  <dcterms:modified xsi:type="dcterms:W3CDTF">2026-06-14T14:40:05Z</dcterms:modified>
</cp:coreProperties>
</file>